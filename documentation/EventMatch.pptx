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svg" ContentType="image/sv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fntdata" ContentType="application/x-fontdata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17"/>
  </p:notesMasterIdLst>
  <p:sldIdLst>
    <p:sldId id="294" r:id="rId2"/>
    <p:sldId id="262" r:id="rId3"/>
    <p:sldId id="288" r:id="rId4"/>
    <p:sldId id="291" r:id="rId5"/>
    <p:sldId id="289" r:id="rId6"/>
    <p:sldId id="290" r:id="rId7"/>
    <p:sldId id="271" r:id="rId8"/>
    <p:sldId id="279" r:id="rId9"/>
    <p:sldId id="280" r:id="rId10"/>
    <p:sldId id="277" r:id="rId11"/>
    <p:sldId id="286" r:id="rId12"/>
    <p:sldId id="275" r:id="rId13"/>
    <p:sldId id="276" r:id="rId14"/>
    <p:sldId id="285" r:id="rId15"/>
    <p:sldId id="295" r:id="rId16"/>
  </p:sldIdLst>
  <p:sldSz cx="12192000" cy="6858000"/>
  <p:notesSz cx="12192000" cy="6858000"/>
  <p:embeddedFontLst>
    <p:embeddedFont>
      <p:font typeface="Onest SemiBold" panose="020B0604020202020204" charset="0"/>
      <p:bold r:id="rId18"/>
    </p:embeddedFont>
    <p:embeddedFont>
      <p:font typeface="Onest Regular" panose="020B0604020202020204" charset="-52"/>
      <p:regular r:id="rId19"/>
    </p:embeddedFont>
    <p:embeddedFont>
      <p:font typeface="Open Sans" panose="020B0604020202020204" charset="0"/>
      <p:regular r:id="rId20"/>
      <p:bold r:id="rId21"/>
      <p:italic r:id="rId22"/>
      <p:boldItalic r:id="rId23"/>
    </p:embeddedFont>
    <p:embeddedFont>
      <p:font typeface="Calibri" panose="020F0502020204030204" pitchFamily="34" charset="0"/>
      <p:regular r:id="rId24"/>
      <p:bold r:id="rId25"/>
      <p:italic r:id="rId26"/>
      <p:boldItalic r:id="rId27"/>
    </p:embeddedFont>
    <p:embeddedFont>
      <p:font typeface="Onest Bold" panose="020B0604020202020204" charset="-52"/>
      <p:bold r:id="rId28"/>
    </p:embeddedFont>
    <p:embeddedFont>
      <p:font typeface="Montserrat" panose="020B0604020202020204" charset="0"/>
      <p:regular r:id="rId29"/>
      <p:bold r:id="rId30"/>
      <p:italic r:id="rId31"/>
      <p:boldItalic r:id="rId32"/>
    </p:embeddedFont>
  </p:embeddedFontLst>
  <p:custDataLst>
    <p:tags r:id="rId33"/>
  </p:custDataLst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8">
          <p15:clr>
            <a:srgbClr val="A4A3A4"/>
          </p15:clr>
        </p15:guide>
        <p15:guide id="2" pos="1323">
          <p15:clr>
            <a:srgbClr val="A4A3A4"/>
          </p15:clr>
        </p15:guide>
        <p15:guide id="3" pos="279">
          <p15:clr>
            <a:srgbClr val="A4A3A4"/>
          </p15:clr>
        </p15:guide>
        <p15:guide id="4" pos="7423">
          <p15:clr>
            <a:srgbClr val="A4A3A4"/>
          </p15:clr>
        </p15:guide>
        <p15:guide id="5" orient="horz" pos="4042">
          <p15:clr>
            <a:srgbClr val="A4A3A4"/>
          </p15:clr>
        </p15:guide>
        <p15:guide id="6" pos="892">
          <p15:clr>
            <a:srgbClr val="A4A3A4"/>
          </p15:clr>
        </p15:guide>
        <p15:guide id="7" pos="733">
          <p15:clr>
            <a:srgbClr val="A4A3A4"/>
          </p15:clr>
        </p15:guide>
        <p15:guide id="8" pos="2547">
          <p15:clr>
            <a:srgbClr val="A4A3A4"/>
          </p15:clr>
        </p15:guide>
        <p15:guide id="9" pos="2094">
          <p15:clr>
            <a:srgbClr val="A4A3A4"/>
          </p15:clr>
        </p15:guide>
        <p15:guide id="10" pos="2706">
          <p15:clr>
            <a:srgbClr val="A4A3A4"/>
          </p15:clr>
        </p15:guide>
        <p15:guide id="11" pos="3160">
          <p15:clr>
            <a:srgbClr val="A4A3A4"/>
          </p15:clr>
        </p15:guide>
        <p15:guide id="12" pos="3318">
          <p15:clr>
            <a:srgbClr val="A4A3A4"/>
          </p15:clr>
        </p15:guide>
        <p15:guide id="13" pos="1504">
          <p15:clr>
            <a:srgbClr val="A4A3A4"/>
          </p15:clr>
        </p15:guide>
        <p15:guide id="14" pos="1935">
          <p15:clr>
            <a:srgbClr val="A4A3A4"/>
          </p15:clr>
        </p15:guide>
        <p15:guide id="15" orient="horz" pos="663">
          <p15:clr>
            <a:srgbClr val="A4A3A4"/>
          </p15:clr>
        </p15:guide>
        <p15:guide id="16" pos="4362">
          <p15:clr>
            <a:srgbClr val="A4A3A4"/>
          </p15:clr>
        </p15:guide>
        <p15:guide id="17" pos="3931">
          <p15:clr>
            <a:srgbClr val="A4A3A4"/>
          </p15:clr>
        </p15:guide>
        <p15:guide id="18" pos="3772">
          <p15:clr>
            <a:srgbClr val="A4A3A4"/>
          </p15:clr>
        </p15:guide>
        <p15:guide id="19" pos="4974">
          <p15:clr>
            <a:srgbClr val="A4A3A4"/>
          </p15:clr>
        </p15:guide>
        <p15:guide id="20" pos="5133">
          <p15:clr>
            <a:srgbClr val="A4A3A4"/>
          </p15:clr>
        </p15:guide>
        <p15:guide id="21" pos="5586">
          <p15:clr>
            <a:srgbClr val="A4A3A4"/>
          </p15:clr>
        </p15:guide>
        <p15:guide id="22" pos="5745">
          <p15:clr>
            <a:srgbClr val="A4A3A4"/>
          </p15:clr>
        </p15:guide>
        <p15:guide id="23" pos="6199">
          <p15:clr>
            <a:srgbClr val="A4A3A4"/>
          </p15:clr>
        </p15:guide>
        <p15:guide id="24" pos="6357">
          <p15:clr>
            <a:srgbClr val="A4A3A4"/>
          </p15:clr>
        </p15:guide>
        <p15:guide id="25" pos="6788">
          <p15:clr>
            <a:srgbClr val="A4A3A4"/>
          </p15:clr>
        </p15:guide>
        <p15:guide id="26" pos="6970">
          <p15:clr>
            <a:srgbClr val="A4A3A4"/>
          </p15:clr>
        </p15:guide>
        <p15:guide id="27" pos="4543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AAA35"/>
    <a:srgbClr val="774395"/>
    <a:srgbClr val="DC4D2B"/>
    <a:srgbClr val="DB49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D5ABB26-0587-4C30-8999-92F81FD0307C}"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8D230F3-CF80-4859-8CE7-A43EE81993B5}" styleName="Светлый стиль 1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8FB837D-C827-4EFA-A057-4D05807E0F7C}" styleName="Стиль из темы 1 - акцент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AF606853-7671-496A-8E4F-DF71F8EC918B}" styleName="Темный стиль 1 — акцент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12C8C85-51F0-491E-9774-3900AFEF0FD7}" styleName="Светлый стиль 2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E8B1032C-EA38-4F05-BA0D-38AFFFC7BED3}" styleName="Светлый стиль 3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10A1B5D5-9B99-4C35-A422-299274C87663}" styleName="Средний стиль 1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361" autoAdjust="0"/>
    <p:restoredTop sz="86364" autoAdjust="0"/>
  </p:normalViewPr>
  <p:slideViewPr>
    <p:cSldViewPr snapToGrid="0">
      <p:cViewPr varScale="1">
        <p:scale>
          <a:sx n="83" d="100"/>
          <a:sy n="83" d="100"/>
        </p:scale>
        <p:origin x="595" y="58"/>
      </p:cViewPr>
      <p:guideLst>
        <p:guide orient="horz" pos="278"/>
        <p:guide pos="1323"/>
        <p:guide pos="279"/>
        <p:guide pos="7423"/>
        <p:guide orient="horz" pos="4042"/>
        <p:guide pos="892"/>
        <p:guide pos="733"/>
        <p:guide pos="2547"/>
        <p:guide pos="2094"/>
        <p:guide pos="2706"/>
        <p:guide pos="3160"/>
        <p:guide pos="3318"/>
        <p:guide pos="1504"/>
        <p:guide pos="1935"/>
        <p:guide orient="horz" pos="663"/>
        <p:guide pos="4362"/>
        <p:guide pos="3931"/>
        <p:guide pos="3772"/>
        <p:guide pos="4974"/>
        <p:guide pos="5133"/>
        <p:guide pos="5586"/>
        <p:guide pos="5745"/>
        <p:guide pos="6199"/>
        <p:guide pos="6357"/>
        <p:guide pos="6788"/>
        <p:guide pos="6970"/>
        <p:guide pos="454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21" Type="http://schemas.openxmlformats.org/officeDocument/2006/relationships/font" Target="fonts/font4.fntdata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32" Type="http://schemas.openxmlformats.org/officeDocument/2006/relationships/font" Target="fonts/font15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font" Target="fonts/font1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font" Target="fonts/font13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2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25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17C2F2-5216-4876-8679-87885D8BC4DC}" type="datetimeFigureOut">
              <a:rPr lang="ru-RU" smtClean="0"/>
              <a:t>15.06.2026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BD9AFA-4B82-47A6-B326-7C70E24BD9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20559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D9AFA-4B82-47A6-B326-7C70E24BD9B5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94446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BD9AFA-4B82-47A6-B326-7C70E24BD9B5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26688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BD9AFA-4B82-47A6-B326-7C70E24BD9B5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48757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BD9AFA-4B82-47A6-B326-7C70E24BD9B5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3387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D9AFA-4B82-47A6-B326-7C70E24BD9B5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2924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Научно-технологический потенциал</a:t>
            </a: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НАУЧНО-ТЕХНОЛОГИЧЕСКИЙ ПОТЕНЦИАЛ</a:t>
            </a:r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3AB6C55-58EA-40D4-AEDD-ACF6FA1FB47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Фина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 userDrawn="1"/>
        </p:nvPicPr>
        <p:blipFill>
          <a:blip r:embed="rId2"/>
          <a:srcRect b="15635"/>
          <a:stretch>
            <a:fillRect/>
          </a:stretch>
        </p:blipFill>
        <p:spPr bwMode="auto">
          <a:xfrm>
            <a:off x="0" y="-1"/>
            <a:ext cx="8401050" cy="6858001"/>
          </a:xfrm>
          <a:prstGeom prst="rect">
            <a:avLst/>
          </a:prstGeom>
        </p:spPr>
      </p:pic>
      <p:sp>
        <p:nvSpPr>
          <p:cNvPr id="18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485775" y="1327779"/>
            <a:ext cx="7662863" cy="1398775"/>
          </a:xfrm>
        </p:spPr>
        <p:txBody>
          <a:bodyPr anchor="t">
            <a:normAutofit/>
          </a:bodyPr>
          <a:lstStyle>
            <a:lvl1pPr algn="l">
              <a:defRPr sz="5400" b="0">
                <a:solidFill>
                  <a:schemeClr val="bg1"/>
                </a:solidFill>
                <a:latin typeface="Onest SemiBold"/>
              </a:defRPr>
            </a:lvl1pPr>
          </a:lstStyle>
          <a:p>
            <a:pPr>
              <a:lnSpc>
                <a:spcPct val="90000"/>
              </a:lnSpc>
              <a:defRPr/>
            </a:pPr>
            <a:r>
              <a:rPr lang="ru-RU" sz="5400">
                <a:solidFill>
                  <a:schemeClr val="bg1"/>
                </a:solidFill>
                <a:latin typeface="Onest SemiBold"/>
                <a:ea typeface="Rubik SemiBold"/>
                <a:cs typeface="Arial"/>
              </a:rPr>
              <a:t>БЛАГОДАРЮ </a:t>
            </a:r>
            <a:br>
              <a:rPr lang="ru-RU" sz="5400">
                <a:solidFill>
                  <a:schemeClr val="bg1"/>
                </a:solidFill>
                <a:latin typeface="Onest SemiBold"/>
                <a:ea typeface="Rubik SemiBold"/>
                <a:cs typeface="Arial"/>
              </a:rPr>
            </a:br>
            <a:r>
              <a:rPr lang="ru-RU" sz="5400">
                <a:solidFill>
                  <a:schemeClr val="bg1"/>
                </a:solidFill>
                <a:latin typeface="Onest SemiBold"/>
                <a:ea typeface="Rubik SemiBold"/>
                <a:cs typeface="Arial"/>
              </a:rPr>
              <a:t>ЗА ВНИМАНИЕ!</a:t>
            </a:r>
            <a:endParaRPr lang="en-US" sz="5400" i="0" u="none" strike="noStrike" cap="none">
              <a:solidFill>
                <a:schemeClr val="bg1"/>
              </a:solidFill>
              <a:latin typeface="Onest SemiBold"/>
              <a:ea typeface="Rubik SemiBold"/>
              <a:cs typeface="Arial"/>
            </a:endParaRPr>
          </a:p>
        </p:txBody>
      </p:sp>
      <p:pic>
        <p:nvPicPr>
          <p:cNvPr id="4" name="Рисунок 3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 bwMode="auto">
          <a:xfrm>
            <a:off x="10978286" y="443913"/>
            <a:ext cx="785043" cy="665795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3A2F82B-63BA-9218-190C-548C7866F67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0" y="3102429"/>
            <a:ext cx="6327321" cy="89807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Контент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9103151" y="6207648"/>
            <a:ext cx="2743200" cy="365125"/>
          </a:xfrm>
        </p:spPr>
        <p:txBody>
          <a:bodyPr anchor="ctr"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Onest Regular"/>
              </a:defRPr>
            </a:lvl1pPr>
          </a:lstStyle>
          <a:p>
            <a:pPr>
              <a:defRPr/>
            </a:pPr>
            <a:fld id="{63AB6C55-58EA-40D4-AEDD-ACF6FA1FB47F}" type="slidenum">
              <a:rPr lang="en-US"/>
              <a:t>‹#›</a:t>
            </a:fld>
            <a:endParaRPr lang="en-US"/>
          </a:p>
        </p:txBody>
      </p:sp>
      <p:sp>
        <p:nvSpPr>
          <p:cNvPr id="12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408088" y="366045"/>
            <a:ext cx="9417542" cy="1294625"/>
          </a:xfrm>
        </p:spPr>
        <p:txBody>
          <a:bodyPr anchor="t">
            <a:normAutofit/>
          </a:bodyPr>
          <a:lstStyle>
            <a:lvl1pPr>
              <a:lnSpc>
                <a:spcPct val="90000"/>
              </a:lnSpc>
              <a:defRPr sz="2400">
                <a:latin typeface="Onest SemiBold"/>
              </a:defRPr>
            </a:lvl1pPr>
          </a:lstStyle>
          <a:p>
            <a:pPr>
              <a:defRPr/>
            </a:pPr>
            <a:r>
              <a:rPr lang="ru-RU"/>
              <a:t>Заголовок слайда</a:t>
            </a:r>
            <a:endParaRPr lang="en-US"/>
          </a:p>
        </p:txBody>
      </p:sp>
      <p:sp>
        <p:nvSpPr>
          <p:cNvPr id="16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408088" y="6207647"/>
            <a:ext cx="5597382" cy="365125"/>
          </a:xfrm>
        </p:spPr>
        <p:txBody>
          <a:bodyPr/>
          <a:lstStyle>
            <a:lvl1pPr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Тема слайда</a:t>
            </a:r>
            <a:endParaRPr lang="en-US"/>
          </a:p>
        </p:txBody>
      </p:sp>
      <p:pic>
        <p:nvPicPr>
          <p:cNvPr id="4" name="Рисунок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11208576" y="488301"/>
            <a:ext cx="554754" cy="470487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0EA778C-FC86-4B16-F1EE-CD4DCAD5874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0" y="6728221"/>
            <a:ext cx="12192000" cy="129779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Научно-технологический потенциал</a:t>
            </a:r>
            <a:endParaRPr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НАУЧНО-ТЕХНОЛОГИЧЕСКИЙ ПОТЕНЦИАЛ</a:t>
            </a:r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3AB6C55-58EA-40D4-AEDD-ACF6FA1FB47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0" r:id="rId3"/>
  </p:sldLayoutIdLst>
  <p:transition/>
  <p:hf hdr="0"/>
  <p:txStyles>
    <p:titleStyle>
      <a:lvl1pPr algn="l" defTabSz="914400">
        <a:lnSpc>
          <a:spcPct val="90000"/>
        </a:lnSpc>
        <a:spcBef>
          <a:spcPct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2.emf"/><Relationship Id="rId2" Type="http://schemas.openxmlformats.org/officeDocument/2006/relationships/slideLayout" Target="../slideLayouts/slideLayout3.xml"/><Relationship Id="rId1" Type="http://schemas.openxmlformats.org/officeDocument/2006/relationships/vmlDrawing" Target="../drawings/vmlDrawing1.vml"/><Relationship Id="rId6" Type="http://schemas.openxmlformats.org/officeDocument/2006/relationships/oleObject" Target="../embeddings/oleObject1.bin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3.xml"/><Relationship Id="rId1" Type="http://schemas.openxmlformats.org/officeDocument/2006/relationships/vmlDrawing" Target="../drawings/vmlDrawing2.vml"/><Relationship Id="rId5" Type="http://schemas.openxmlformats.org/officeDocument/2006/relationships/image" Target="../media/image26.png"/><Relationship Id="rId4" Type="http://schemas.openxmlformats.org/officeDocument/2006/relationships/image" Target="../media/image25.emf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Box 25"/>
          <p:cNvSpPr txBox="1"/>
          <p:nvPr/>
        </p:nvSpPr>
        <p:spPr bwMode="auto">
          <a:xfrm>
            <a:off x="2367263" y="5921495"/>
            <a:ext cx="372873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600"/>
              <a:buFont typeface="Arial"/>
              <a:buNone/>
              <a:defRPr/>
            </a:pPr>
            <a:r>
              <a:rPr lang="ru-RU" sz="1600">
                <a:solidFill>
                  <a:schemeClr val="bg1"/>
                </a:solidFill>
                <a:latin typeface="Onest SemiBold"/>
                <a:cs typeface="Rubik SemiBold"/>
              </a:rPr>
              <a:t>УПРАВЛЕНИЕ ПО СВЯЗЯМ </a:t>
            </a:r>
            <a:r>
              <a:rPr lang="en-US" sz="1600">
                <a:solidFill>
                  <a:schemeClr val="bg1"/>
                </a:solidFill>
                <a:latin typeface="Onest SemiBold"/>
                <a:cs typeface="Rubik SemiBold"/>
              </a:rPr>
              <a:t/>
            </a:r>
            <a:br>
              <a:rPr lang="en-US" sz="1600">
                <a:solidFill>
                  <a:schemeClr val="bg1"/>
                </a:solidFill>
                <a:latin typeface="Onest SemiBold"/>
                <a:cs typeface="Rubik SemiBold"/>
              </a:rPr>
            </a:br>
            <a:r>
              <a:rPr lang="ru-RU" sz="1600">
                <a:solidFill>
                  <a:schemeClr val="bg1"/>
                </a:solidFill>
                <a:latin typeface="Onest SemiBold"/>
                <a:cs typeface="Rubik SemiBold"/>
              </a:rPr>
              <a:t>С ОБЩЕСТВЕННОСТЬЮ СПБПУ</a:t>
            </a:r>
            <a:endParaRPr/>
          </a:p>
        </p:txBody>
      </p:sp>
      <p:sp>
        <p:nvSpPr>
          <p:cNvPr id="7" name="Прямоугольник 6"/>
          <p:cNvSpPr/>
          <p:nvPr/>
        </p:nvSpPr>
        <p:spPr bwMode="auto">
          <a:xfrm>
            <a:off x="3943927" y="2395247"/>
            <a:ext cx="6952673" cy="3167350"/>
          </a:xfrm>
          <a:prstGeom prst="rect">
            <a:avLst/>
          </a:prstGeom>
          <a:gradFill>
            <a:gsLst>
              <a:gs pos="0">
                <a:srgbClr val="004C22"/>
              </a:gs>
              <a:gs pos="100000">
                <a:srgbClr val="32932D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8" name="Прямоугольник 7"/>
          <p:cNvSpPr/>
          <p:nvPr/>
        </p:nvSpPr>
        <p:spPr bwMode="auto">
          <a:xfrm rot="5400000">
            <a:off x="9771186" y="1125414"/>
            <a:ext cx="3546228" cy="1295401"/>
          </a:xfrm>
          <a:prstGeom prst="rect">
            <a:avLst/>
          </a:prstGeom>
          <a:gradFill>
            <a:gsLst>
              <a:gs pos="0">
                <a:srgbClr val="FC4921"/>
              </a:gs>
              <a:gs pos="100000">
                <a:srgbClr val="F29262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9" name="Прямоугольник 8"/>
          <p:cNvSpPr/>
          <p:nvPr/>
        </p:nvSpPr>
        <p:spPr bwMode="auto">
          <a:xfrm rot="10800000">
            <a:off x="0" y="5562597"/>
            <a:ext cx="6203950" cy="1295402"/>
          </a:xfrm>
          <a:prstGeom prst="rect">
            <a:avLst/>
          </a:prstGeom>
          <a:gradFill>
            <a:gsLst>
              <a:gs pos="0">
                <a:srgbClr val="3D2E69"/>
              </a:gs>
              <a:gs pos="100000">
                <a:srgbClr val="774395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1" name="TextBox 10"/>
          <p:cNvSpPr txBox="1"/>
          <p:nvPr/>
        </p:nvSpPr>
        <p:spPr bwMode="auto">
          <a:xfrm>
            <a:off x="4685690" y="2998819"/>
            <a:ext cx="6210908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4400" dirty="0" err="1" smtClean="0">
                <a:solidFill>
                  <a:schemeClr val="bg1"/>
                </a:solidFill>
                <a:latin typeface="Onest Bold"/>
                <a:ea typeface="Rubik SemiBold"/>
                <a:cs typeface="Arial"/>
              </a:rPr>
              <a:t>EventMatch</a:t>
            </a:r>
            <a:r>
              <a:rPr lang="en-US" sz="4400" dirty="0" smtClean="0">
                <a:solidFill>
                  <a:schemeClr val="bg1"/>
                </a:solidFill>
                <a:latin typeface="Onest Bold"/>
                <a:ea typeface="Rubik SemiBold"/>
                <a:cs typeface="Arial"/>
              </a:rPr>
              <a:t> </a:t>
            </a:r>
            <a:r>
              <a:rPr lang="en-US" sz="4400" dirty="0">
                <a:solidFill>
                  <a:schemeClr val="bg1"/>
                </a:solidFill>
                <a:latin typeface="Onest Bold"/>
                <a:ea typeface="Rubik SemiBold"/>
                <a:cs typeface="Arial"/>
              </a:rPr>
              <a:t>– </a:t>
            </a:r>
            <a:r>
              <a:rPr lang="ru-RU" sz="4400" dirty="0">
                <a:solidFill>
                  <a:schemeClr val="bg1"/>
                </a:solidFill>
                <a:latin typeface="Onest Bold"/>
                <a:ea typeface="Rubik SemiBold"/>
                <a:cs typeface="Arial"/>
              </a:rPr>
              <a:t>программа моей мечты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 bwMode="auto">
          <a:xfrm>
            <a:off x="136581" y="5879937"/>
            <a:ext cx="618451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600"/>
              <a:defRPr/>
            </a:pPr>
            <a:r>
              <a:rPr lang="ru-RU" sz="2000" dirty="0">
                <a:solidFill>
                  <a:schemeClr val="bg1"/>
                </a:solidFill>
                <a:latin typeface="Onest SemiBold"/>
                <a:cs typeface="Rubik SemiBold"/>
              </a:rPr>
              <a:t>Ссылка на </a:t>
            </a:r>
            <a:r>
              <a:rPr lang="ru-RU" sz="2000" dirty="0" err="1">
                <a:solidFill>
                  <a:schemeClr val="bg1"/>
                </a:solidFill>
                <a:latin typeface="Onest SemiBold"/>
                <a:cs typeface="Rubik SemiBold"/>
              </a:rPr>
              <a:t>репозиторий</a:t>
            </a:r>
            <a:r>
              <a:rPr lang="ru-RU" sz="2000" dirty="0">
                <a:solidFill>
                  <a:schemeClr val="bg1"/>
                </a:solidFill>
                <a:latin typeface="Onest SemiBold"/>
                <a:cs typeface="Rubik SemiBold"/>
              </a:rPr>
              <a:t> </a:t>
            </a:r>
            <a:r>
              <a:rPr lang="en-US" sz="2000" dirty="0">
                <a:solidFill>
                  <a:schemeClr val="bg1"/>
                </a:solidFill>
                <a:latin typeface="Onest SemiBold"/>
                <a:cs typeface="Rubik SemiBold"/>
              </a:rPr>
              <a:t>GitHub</a:t>
            </a:r>
          </a:p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600"/>
              <a:defRPr/>
            </a:pPr>
            <a:r>
              <a:rPr lang="en-US" sz="2000" dirty="0">
                <a:solidFill>
                  <a:schemeClr val="bg1"/>
                </a:solidFill>
                <a:latin typeface="Onest SemiBold"/>
                <a:cs typeface="Rubik SemiBold"/>
              </a:rPr>
              <a:t>https://github.com/dariaushkevitch/eventmatch</a:t>
            </a:r>
          </a:p>
        </p:txBody>
      </p:sp>
      <p:sp>
        <p:nvSpPr>
          <p:cNvPr id="13" name="TextBox 12"/>
          <p:cNvSpPr txBox="1"/>
          <p:nvPr/>
        </p:nvSpPr>
        <p:spPr bwMode="auto">
          <a:xfrm>
            <a:off x="6438243" y="5726049"/>
            <a:ext cx="445835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600"/>
              <a:buFont typeface="Arial"/>
              <a:buNone/>
              <a:defRPr/>
            </a:pPr>
            <a:r>
              <a:rPr lang="ru-RU" sz="2000" dirty="0">
                <a:solidFill>
                  <a:srgbClr val="774395"/>
                </a:solidFill>
                <a:latin typeface="Onest Regular"/>
              </a:rPr>
              <a:t>Автор:</a:t>
            </a:r>
            <a:endParaRPr sz="2000" dirty="0">
              <a:solidFill>
                <a:srgbClr val="774395"/>
              </a:solidFill>
            </a:endParaRPr>
          </a:p>
          <a:p>
            <a:pPr marL="0" marR="0" lvl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600"/>
              <a:buFont typeface="Arial"/>
              <a:buNone/>
              <a:defRPr/>
            </a:pPr>
            <a:r>
              <a:rPr lang="ru-RU" sz="2000" b="1" dirty="0">
                <a:solidFill>
                  <a:srgbClr val="774395"/>
                </a:solidFill>
                <a:latin typeface="Onest SemiBold"/>
              </a:rPr>
              <a:t>Юшкевич Дарья Константиновна </a:t>
            </a:r>
          </a:p>
          <a:p>
            <a:pPr marL="0" marR="0" lvl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600"/>
              <a:buFont typeface="Arial"/>
              <a:buNone/>
              <a:defRPr/>
            </a:pPr>
            <a:r>
              <a:rPr lang="ru-RU" sz="2000" b="1" dirty="0">
                <a:solidFill>
                  <a:srgbClr val="774395"/>
                </a:solidFill>
                <a:latin typeface="Onest SemiBold"/>
              </a:rPr>
              <a:t>Студент группы 24290907/2091</a:t>
            </a:r>
            <a:endParaRPr sz="2000" dirty="0">
              <a:solidFill>
                <a:srgbClr val="774395"/>
              </a:solidFill>
            </a:endParaRPr>
          </a:p>
        </p:txBody>
      </p:sp>
      <p:sp>
        <p:nvSpPr>
          <p:cNvPr id="14" name="TextBox 13"/>
          <p:cNvSpPr txBox="1"/>
          <p:nvPr/>
        </p:nvSpPr>
        <p:spPr bwMode="auto">
          <a:xfrm>
            <a:off x="8863342" y="1933210"/>
            <a:ext cx="17689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/>
            </a:pPr>
            <a:r>
              <a:rPr lang="ru-RU">
                <a:solidFill>
                  <a:srgbClr val="369F31"/>
                </a:solidFill>
                <a:latin typeface="Onest SemiBold"/>
                <a:ea typeface="Rubik SemiBold"/>
                <a:cs typeface="Arial"/>
              </a:rPr>
              <a:t>2026</a:t>
            </a:r>
            <a:endParaRPr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696" y="-11310"/>
            <a:ext cx="4007720" cy="4675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060594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3AB6C55-58EA-40D4-AEDD-ACF6FA1FB47F}" type="slidenum">
              <a:rPr lang="en-US" sz="2000" smtClean="0"/>
              <a:t>2</a:t>
            </a:fld>
            <a:r>
              <a:rPr lang="ru-RU" sz="2000" dirty="0"/>
              <a:t> из 15</a:t>
            </a:r>
            <a:endParaRPr lang="en-US" sz="2000" dirty="0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 bwMode="auto">
          <a:xfrm>
            <a:off x="408088" y="366045"/>
            <a:ext cx="9417542" cy="548717"/>
          </a:xfrm>
        </p:spPr>
        <p:txBody>
          <a:bodyPr/>
          <a:lstStyle/>
          <a:p>
            <a:pPr>
              <a:defRPr/>
            </a:pPr>
            <a:r>
              <a:rPr lang="ru-RU" dirty="0"/>
              <a:t>Предметная область и назначение</a:t>
            </a:r>
            <a:endParaRPr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ru-RU" dirty="0"/>
              <a:t>Предметная область и назначение</a:t>
            </a:r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408088" y="914762"/>
            <a:ext cx="108095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Платформа должна автоматизировать процесс поиска целевой аудитории (для организаторов) и релевантных мероприятий (для участников).</a:t>
            </a:r>
          </a:p>
          <a:p>
            <a:endParaRPr lang="ru-RU" sz="2000" dirty="0"/>
          </a:p>
        </p:txBody>
      </p:sp>
      <p:pic>
        <p:nvPicPr>
          <p:cNvPr id="10" name="Google Shape;106;p14" descr="image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85821" y="1930425"/>
            <a:ext cx="580895" cy="621408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Прямоугольник 10"/>
          <p:cNvSpPr/>
          <p:nvPr/>
        </p:nvSpPr>
        <p:spPr>
          <a:xfrm>
            <a:off x="2271385" y="1930425"/>
            <a:ext cx="9227508" cy="39857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300" b="1" dirty="0"/>
              <a:t>Безопасность: </a:t>
            </a:r>
            <a:r>
              <a:rPr lang="ru-RU" sz="2300" dirty="0"/>
              <a:t>Защита от несанкционированного доступа и модификации данных, двухфакторная аутентификация. </a:t>
            </a:r>
          </a:p>
          <a:p>
            <a:endParaRPr lang="ru-RU" sz="2300" dirty="0"/>
          </a:p>
          <a:p>
            <a:endParaRPr lang="ru-RU" sz="2300" dirty="0"/>
          </a:p>
          <a:p>
            <a:endParaRPr lang="ru-RU" sz="2300" dirty="0"/>
          </a:p>
          <a:p>
            <a:r>
              <a:rPr lang="ru-RU" sz="2300" b="1" dirty="0"/>
              <a:t>Производительность: </a:t>
            </a:r>
            <a:r>
              <a:rPr lang="ru-RU" sz="2300" dirty="0"/>
              <a:t>Стабильная работа при 5000 одновременных пользователей</a:t>
            </a:r>
          </a:p>
          <a:p>
            <a:endParaRPr lang="ru-RU" sz="2300" dirty="0"/>
          </a:p>
          <a:p>
            <a:endParaRPr lang="ru-RU" sz="2300" dirty="0"/>
          </a:p>
          <a:p>
            <a:endParaRPr lang="ru-RU" sz="2300" dirty="0"/>
          </a:p>
          <a:p>
            <a:r>
              <a:rPr lang="ru-RU" sz="2300" b="1" dirty="0"/>
              <a:t>Срок исполнения: 2 года</a:t>
            </a:r>
          </a:p>
        </p:txBody>
      </p:sp>
      <p:pic>
        <p:nvPicPr>
          <p:cNvPr id="12" name="Google Shape;106;p14" descr="image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85416" y="3654937"/>
            <a:ext cx="580895" cy="62140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06;p14" descr="image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85415" y="5275535"/>
            <a:ext cx="580895" cy="6214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3AB6C55-58EA-40D4-AEDD-ACF6FA1FB47F}" type="slidenum">
              <a:rPr lang="en-US" sz="2000" smtClean="0"/>
              <a:t>3</a:t>
            </a:fld>
            <a:r>
              <a:rPr lang="ru-RU" sz="2000" dirty="0"/>
              <a:t> из 15</a:t>
            </a:r>
            <a:endParaRPr lang="en-US" sz="2000" dirty="0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 bwMode="auto">
          <a:xfrm>
            <a:off x="408088" y="366045"/>
            <a:ext cx="9417542" cy="548717"/>
          </a:xfrm>
        </p:spPr>
        <p:txBody>
          <a:bodyPr/>
          <a:lstStyle/>
          <a:p>
            <a:pPr>
              <a:defRPr/>
            </a:pPr>
            <a:r>
              <a:rPr lang="ru-RU" dirty="0"/>
              <a:t>Модель жизненного цикла. Таблица сравнения 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408088" y="6207647"/>
            <a:ext cx="4344386" cy="365125"/>
          </a:xfrm>
        </p:spPr>
        <p:txBody>
          <a:bodyPr/>
          <a:lstStyle/>
          <a:p>
            <a:pPr>
              <a:defRPr/>
            </a:pPr>
            <a:r>
              <a:rPr lang="ru-RU" dirty="0"/>
              <a:t>Модель жизненного цикла. Таблица сравнения</a:t>
            </a: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4199009"/>
              </p:ext>
            </p:extLst>
          </p:nvPr>
        </p:nvGraphicFramePr>
        <p:xfrm>
          <a:off x="846482" y="1283002"/>
          <a:ext cx="10150810" cy="42959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0162">
                  <a:extLst>
                    <a:ext uri="{9D8B030D-6E8A-4147-A177-3AD203B41FA5}">
                      <a16:colId xmlns:a16="http://schemas.microsoft.com/office/drawing/2014/main" val="934988493"/>
                    </a:ext>
                  </a:extLst>
                </a:gridCol>
                <a:gridCol w="2250527">
                  <a:extLst>
                    <a:ext uri="{9D8B030D-6E8A-4147-A177-3AD203B41FA5}">
                      <a16:colId xmlns:a16="http://schemas.microsoft.com/office/drawing/2014/main" val="2237844821"/>
                    </a:ext>
                  </a:extLst>
                </a:gridCol>
                <a:gridCol w="2318658">
                  <a:extLst>
                    <a:ext uri="{9D8B030D-6E8A-4147-A177-3AD203B41FA5}">
                      <a16:colId xmlns:a16="http://schemas.microsoft.com/office/drawing/2014/main" val="2033612984"/>
                    </a:ext>
                  </a:extLst>
                </a:gridCol>
                <a:gridCol w="1521301">
                  <a:extLst>
                    <a:ext uri="{9D8B030D-6E8A-4147-A177-3AD203B41FA5}">
                      <a16:colId xmlns:a16="http://schemas.microsoft.com/office/drawing/2014/main" val="2681326086"/>
                    </a:ext>
                  </a:extLst>
                </a:gridCol>
                <a:gridCol w="2030162">
                  <a:extLst>
                    <a:ext uri="{9D8B030D-6E8A-4147-A177-3AD203B41FA5}">
                      <a16:colId xmlns:a16="http://schemas.microsoft.com/office/drawing/2014/main" val="1748774724"/>
                    </a:ext>
                  </a:extLst>
                </a:gridCol>
              </a:tblGrid>
              <a:tr h="1020932"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Модель </a:t>
                      </a:r>
                      <a:endParaRPr lang="ru-RU" sz="12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+mn-lt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+mn-lt"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+mn-lt"/>
                        </a:rPr>
                        <a:t>Соответствие сильным сторонам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+mn-lt"/>
                        </a:rPr>
                        <a:t>Решение слабых сторон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9334277"/>
                  </a:ext>
                </a:extLst>
              </a:tr>
              <a:tr h="897536">
                <a:tc>
                  <a:txBody>
                    <a:bodyPr/>
                    <a:lstStyle/>
                    <a:p>
                      <a:pPr marL="6350" indent="-6350"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Водопадная </a:t>
                      </a:r>
                    </a:p>
                  </a:txBody>
                  <a:tcPr marL="60325" marR="25400" marT="175260" marB="26670"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Четкость этапов, лёгкость контролирования сроков </a:t>
                      </a:r>
                      <a:endParaRPr lang="ru-RU" sz="12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Нет гибкости к изменениям </a:t>
                      </a:r>
                      <a:endParaRPr lang="ru-RU" sz="12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✓ </a:t>
                      </a:r>
                      <a:endParaRPr lang="ru-RU" sz="12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 (не решает </a:t>
                      </a:r>
                      <a:r>
                        <a:rPr lang="ru-RU" sz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проблему производительности и интеграции сложных элементов) </a:t>
                      </a:r>
                      <a:endParaRPr lang="ru-RU" sz="12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9564677"/>
                  </a:ext>
                </a:extLst>
              </a:tr>
              <a:tr h="897536"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Итеративная </a:t>
                      </a:r>
                      <a:endParaRPr lang="ru-RU" sz="12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Постепенное улучшение продукта, раннее выявление недостатков </a:t>
                      </a:r>
                      <a:endParaRPr lang="ru-RU" sz="12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Возможно</a:t>
                      </a:r>
                      <a:r>
                        <a:rPr lang="ru-RU" sz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увеличение стоимости проекта </a:t>
                      </a:r>
                      <a:endParaRPr lang="ru-RU" sz="12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✓ </a:t>
                      </a:r>
                      <a:endParaRPr lang="ru-RU" sz="12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Повышение</a:t>
                      </a:r>
                      <a:r>
                        <a:rPr lang="ru-RU" sz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производительности и устойчивость к высоким </a:t>
                      </a:r>
                    </a:p>
                    <a:p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нагрузкам. </a:t>
                      </a:r>
                    </a:p>
                    <a:p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Решение проблем интеграции сложных компонентов </a:t>
                      </a:r>
                      <a:endParaRPr lang="ru-RU" sz="12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3845600"/>
                  </a:ext>
                </a:extLst>
              </a:tr>
              <a:tr h="897536"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V-образная </a:t>
                      </a:r>
                      <a:endParaRPr lang="ru-RU" sz="12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Раннее выявление дефектов, надежность продукта </a:t>
                      </a:r>
                      <a:endParaRPr lang="ru-RU" sz="12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Затруднения с </a:t>
                      </a:r>
                    </a:p>
                    <a:p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внесением изменений </a:t>
                      </a:r>
                      <a:endParaRPr lang="ru-RU" sz="12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✓ </a:t>
                      </a:r>
                      <a:endParaRPr lang="ru-RU" sz="12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 (затягивает </a:t>
                      </a:r>
                    </a:p>
                    <a:p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процесс, усложняет внесение </a:t>
                      </a:r>
                    </a:p>
                    <a:p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изменений 	в </a:t>
                      </a:r>
                    </a:p>
                    <a:p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требованиях) </a:t>
                      </a:r>
                      <a:endParaRPr lang="ru-RU" sz="12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66273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2311991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3AB6C55-58EA-40D4-AEDD-ACF6FA1FB47F}" type="slidenum">
              <a:rPr lang="en-US" sz="2000" smtClean="0"/>
              <a:t>4</a:t>
            </a:fld>
            <a:r>
              <a:rPr lang="ru-RU" sz="2000" dirty="0"/>
              <a:t> из 15</a:t>
            </a:r>
            <a:endParaRPr lang="en-US" sz="2000" dirty="0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 bwMode="auto">
          <a:xfrm>
            <a:off x="408088" y="366045"/>
            <a:ext cx="9417542" cy="548717"/>
          </a:xfrm>
        </p:spPr>
        <p:txBody>
          <a:bodyPr/>
          <a:lstStyle/>
          <a:p>
            <a:pPr>
              <a:defRPr/>
            </a:pPr>
            <a:r>
              <a:rPr lang="ru-RU" dirty="0"/>
              <a:t>Итеративная модель жизненного цикла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408088" y="6207647"/>
            <a:ext cx="4344386" cy="365125"/>
          </a:xfrm>
        </p:spPr>
        <p:txBody>
          <a:bodyPr/>
          <a:lstStyle/>
          <a:p>
            <a:pPr>
              <a:defRPr/>
            </a:pPr>
            <a:r>
              <a:rPr lang="ru-RU" dirty="0"/>
              <a:t>Итеративная модель жизненного цикла</a:t>
            </a:r>
          </a:p>
        </p:txBody>
      </p:sp>
      <p:pic>
        <p:nvPicPr>
          <p:cNvPr id="9" name="Google Shape;121;p16" descr="image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71500" y="1529771"/>
            <a:ext cx="3492549" cy="285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22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49799" y="1529771"/>
            <a:ext cx="3492549" cy="285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23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28099" y="1529771"/>
            <a:ext cx="3492549" cy="285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4;p16"/>
          <p:cNvSpPr txBox="1"/>
          <p:nvPr/>
        </p:nvSpPr>
        <p:spPr>
          <a:xfrm>
            <a:off x="952500" y="2425702"/>
            <a:ext cx="286707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rgbClr val="2D3748"/>
                </a:solidFill>
                <a:latin typeface="Montserrat"/>
                <a:ea typeface="Montserrat"/>
                <a:cs typeface="Montserrat"/>
                <a:sym typeface="Montserrat"/>
              </a:rPr>
              <a:t>ГИБКОСТЬ</a:t>
            </a:r>
            <a:endParaRPr sz="2000" dirty="0"/>
          </a:p>
        </p:txBody>
      </p:sp>
      <p:sp>
        <p:nvSpPr>
          <p:cNvPr id="13" name="Google Shape;125;p16"/>
          <p:cNvSpPr txBox="1"/>
          <p:nvPr/>
        </p:nvSpPr>
        <p:spPr>
          <a:xfrm>
            <a:off x="952500" y="2854327"/>
            <a:ext cx="2730549" cy="1231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Возможность менять требования на лету в зависимости от обратной связи.</a:t>
            </a:r>
            <a:endParaRPr sz="2000"/>
          </a:p>
        </p:txBody>
      </p:sp>
      <p:sp>
        <p:nvSpPr>
          <p:cNvPr id="14" name="Google Shape;126;p16"/>
          <p:cNvSpPr txBox="1"/>
          <p:nvPr/>
        </p:nvSpPr>
        <p:spPr>
          <a:xfrm>
            <a:off x="4730799" y="2425702"/>
            <a:ext cx="3397299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rgbClr val="2D3748"/>
                </a:solidFill>
                <a:latin typeface="Montserrat"/>
                <a:ea typeface="Montserrat"/>
                <a:cs typeface="Montserrat"/>
                <a:sym typeface="Montserrat"/>
              </a:rPr>
              <a:t>СНИЖЕНИЕ РИСКОВ</a:t>
            </a:r>
            <a:endParaRPr sz="2000" dirty="0"/>
          </a:p>
        </p:txBody>
      </p:sp>
      <p:sp>
        <p:nvSpPr>
          <p:cNvPr id="15" name="Google Shape;127;p16"/>
          <p:cNvSpPr txBox="1"/>
          <p:nvPr/>
        </p:nvSpPr>
        <p:spPr>
          <a:xfrm>
            <a:off x="4730799" y="2854327"/>
            <a:ext cx="2730549" cy="1231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Раннее</a:t>
            </a:r>
            <a:r>
              <a:rPr lang="en-US" sz="2000" b="0" i="0" u="none" strike="noStrike" cap="none" dirty="0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000" b="0" i="0" u="none" strike="noStrike" cap="none" dirty="0" err="1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выявление</a:t>
            </a:r>
            <a:r>
              <a:rPr lang="en-US" sz="2000" b="0" i="0" u="none" strike="noStrike" cap="none" dirty="0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000" b="0" i="0" u="none" strike="noStrike" cap="none" dirty="0" err="1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ошибок</a:t>
            </a:r>
            <a:r>
              <a:rPr lang="en-US" sz="2000" b="0" i="0" u="none" strike="noStrike" cap="none" dirty="0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 в </a:t>
            </a:r>
            <a:r>
              <a:rPr lang="en-US" sz="2000" b="0" i="0" u="none" strike="noStrike" cap="none" dirty="0" err="1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сложных</a:t>
            </a:r>
            <a:r>
              <a:rPr lang="en-US" sz="2000" b="0" i="0" u="none" strike="noStrike" cap="none" dirty="0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000" b="0" i="0" u="none" strike="noStrike" cap="none" dirty="0" err="1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модулях</a:t>
            </a:r>
            <a:r>
              <a:rPr lang="en-US" sz="2000" b="0" i="0" u="none" strike="noStrike" cap="none" dirty="0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 (</a:t>
            </a:r>
            <a:r>
              <a:rPr lang="en-US" sz="2000" b="0" i="0" u="none" strike="noStrike" cap="none" dirty="0" err="1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например</a:t>
            </a:r>
            <a:r>
              <a:rPr lang="en-US" sz="2000" b="0" i="0" u="none" strike="noStrike" cap="none" dirty="0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000" b="0" i="0" u="none" strike="noStrike" cap="none" dirty="0" err="1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чат</a:t>
            </a:r>
            <a:r>
              <a:rPr lang="en-US" sz="2000" b="0" i="0" u="none" strike="noStrike" cap="none" dirty="0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000" b="0" i="0" u="none" strike="noStrike" cap="none" dirty="0" err="1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поддержки</a:t>
            </a:r>
            <a:r>
              <a:rPr lang="en-US" sz="2000" b="0" i="0" u="none" strike="noStrike" cap="none" dirty="0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).</a:t>
            </a:r>
            <a:endParaRPr sz="2000" dirty="0"/>
          </a:p>
        </p:txBody>
      </p:sp>
      <p:sp>
        <p:nvSpPr>
          <p:cNvPr id="16" name="Google Shape;128;p16"/>
          <p:cNvSpPr txBox="1"/>
          <p:nvPr/>
        </p:nvSpPr>
        <p:spPr>
          <a:xfrm>
            <a:off x="8509099" y="2425702"/>
            <a:ext cx="286707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2D3748"/>
                </a:solidFill>
                <a:latin typeface="Montserrat"/>
                <a:ea typeface="Montserrat"/>
                <a:cs typeface="Montserrat"/>
                <a:sym typeface="Montserrat"/>
              </a:rPr>
              <a:t>БЫСТРЫЙ СТАРТ</a:t>
            </a:r>
            <a:endParaRPr sz="2000"/>
          </a:p>
        </p:txBody>
      </p:sp>
      <p:sp>
        <p:nvSpPr>
          <p:cNvPr id="17" name="Google Shape;129;p16"/>
          <p:cNvSpPr txBox="1"/>
          <p:nvPr/>
        </p:nvSpPr>
        <p:spPr>
          <a:xfrm>
            <a:off x="8509099" y="2854327"/>
            <a:ext cx="2730549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Поэтапное внедрение функционала от MVP к полноценной системе.</a:t>
            </a:r>
            <a:endParaRPr sz="2000"/>
          </a:p>
        </p:txBody>
      </p:sp>
      <p:pic>
        <p:nvPicPr>
          <p:cNvPr id="18" name="Google Shape;130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74175" y="1682465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31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752474" y="1682465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132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509099" y="1682465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140;p17"/>
          <p:cNvSpPr/>
          <p:nvPr/>
        </p:nvSpPr>
        <p:spPr>
          <a:xfrm>
            <a:off x="571648" y="5090292"/>
            <a:ext cx="11049000" cy="381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141;p17"/>
          <p:cNvSpPr txBox="1"/>
          <p:nvPr/>
        </p:nvSpPr>
        <p:spPr>
          <a:xfrm>
            <a:off x="571648" y="4709292"/>
            <a:ext cx="198879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 err="1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Этап</a:t>
            </a:r>
            <a:r>
              <a:rPr lang="en-US" sz="1200" b="1" i="0" u="none" strike="noStrike" cap="none" dirty="0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 1</a:t>
            </a:r>
            <a:endParaRPr dirty="0"/>
          </a:p>
        </p:txBody>
      </p:sp>
      <p:sp>
        <p:nvSpPr>
          <p:cNvPr id="23" name="Google Shape;142;p17"/>
          <p:cNvSpPr/>
          <p:nvPr/>
        </p:nvSpPr>
        <p:spPr>
          <a:xfrm>
            <a:off x="1451668" y="520459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48BB78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143;p17"/>
          <p:cNvSpPr txBox="1"/>
          <p:nvPr/>
        </p:nvSpPr>
        <p:spPr>
          <a:xfrm>
            <a:off x="571648" y="5718942"/>
            <a:ext cx="198879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Инициация</a:t>
            </a:r>
            <a:endParaRPr/>
          </a:p>
        </p:txBody>
      </p:sp>
      <p:sp>
        <p:nvSpPr>
          <p:cNvPr id="25" name="Google Shape;144;p17"/>
          <p:cNvSpPr txBox="1"/>
          <p:nvPr/>
        </p:nvSpPr>
        <p:spPr>
          <a:xfrm>
            <a:off x="2836663" y="4709292"/>
            <a:ext cx="198879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Этап 2</a:t>
            </a:r>
            <a:endParaRPr/>
          </a:p>
        </p:txBody>
      </p:sp>
      <p:sp>
        <p:nvSpPr>
          <p:cNvPr id="26" name="Google Shape;145;p17"/>
          <p:cNvSpPr/>
          <p:nvPr/>
        </p:nvSpPr>
        <p:spPr>
          <a:xfrm>
            <a:off x="3716683" y="520459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48BB78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146;p17"/>
          <p:cNvSpPr txBox="1"/>
          <p:nvPr/>
        </p:nvSpPr>
        <p:spPr>
          <a:xfrm>
            <a:off x="2836663" y="5718942"/>
            <a:ext cx="198879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Анализ</a:t>
            </a:r>
            <a:endParaRPr/>
          </a:p>
        </p:txBody>
      </p:sp>
      <p:sp>
        <p:nvSpPr>
          <p:cNvPr id="28" name="Google Shape;147;p17"/>
          <p:cNvSpPr txBox="1"/>
          <p:nvPr/>
        </p:nvSpPr>
        <p:spPr>
          <a:xfrm>
            <a:off x="5101678" y="4709292"/>
            <a:ext cx="198879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Этап 3</a:t>
            </a:r>
            <a:endParaRPr/>
          </a:p>
        </p:txBody>
      </p:sp>
      <p:sp>
        <p:nvSpPr>
          <p:cNvPr id="29" name="Google Shape;148;p17"/>
          <p:cNvSpPr/>
          <p:nvPr/>
        </p:nvSpPr>
        <p:spPr>
          <a:xfrm>
            <a:off x="5981699" y="520459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48BB78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149;p17"/>
          <p:cNvSpPr txBox="1"/>
          <p:nvPr/>
        </p:nvSpPr>
        <p:spPr>
          <a:xfrm>
            <a:off x="5101678" y="5718942"/>
            <a:ext cx="198879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Разработка</a:t>
            </a:r>
            <a:endParaRPr/>
          </a:p>
        </p:txBody>
      </p:sp>
      <p:sp>
        <p:nvSpPr>
          <p:cNvPr id="31" name="Google Shape;150;p17"/>
          <p:cNvSpPr txBox="1"/>
          <p:nvPr/>
        </p:nvSpPr>
        <p:spPr>
          <a:xfrm>
            <a:off x="7366693" y="4709292"/>
            <a:ext cx="198879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Этап 4</a:t>
            </a:r>
            <a:endParaRPr/>
          </a:p>
        </p:txBody>
      </p:sp>
      <p:sp>
        <p:nvSpPr>
          <p:cNvPr id="32" name="Google Shape;151;p17"/>
          <p:cNvSpPr/>
          <p:nvPr/>
        </p:nvSpPr>
        <p:spPr>
          <a:xfrm>
            <a:off x="8246714" y="520459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48BB78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152;p17"/>
          <p:cNvSpPr txBox="1"/>
          <p:nvPr/>
        </p:nvSpPr>
        <p:spPr>
          <a:xfrm>
            <a:off x="7366693" y="5718942"/>
            <a:ext cx="198879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Тестирование</a:t>
            </a:r>
            <a:endParaRPr/>
          </a:p>
        </p:txBody>
      </p:sp>
      <p:sp>
        <p:nvSpPr>
          <p:cNvPr id="34" name="Google Shape;153;p17"/>
          <p:cNvSpPr txBox="1"/>
          <p:nvPr/>
        </p:nvSpPr>
        <p:spPr>
          <a:xfrm>
            <a:off x="9631708" y="4709292"/>
            <a:ext cx="198879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Этап 5</a:t>
            </a:r>
            <a:endParaRPr/>
          </a:p>
        </p:txBody>
      </p:sp>
      <p:sp>
        <p:nvSpPr>
          <p:cNvPr id="35" name="Google Shape;154;p17"/>
          <p:cNvSpPr/>
          <p:nvPr/>
        </p:nvSpPr>
        <p:spPr>
          <a:xfrm>
            <a:off x="10511729" y="520459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48BB78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155;p17"/>
          <p:cNvSpPr txBox="1"/>
          <p:nvPr/>
        </p:nvSpPr>
        <p:spPr>
          <a:xfrm>
            <a:off x="9631708" y="5718942"/>
            <a:ext cx="198879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Внедрение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345860617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3AB6C55-58EA-40D4-AEDD-ACF6FA1FB47F}" type="slidenum">
              <a:rPr lang="en-US" sz="2000" smtClean="0"/>
              <a:t>5</a:t>
            </a:fld>
            <a:r>
              <a:rPr lang="ru-RU" sz="2000" dirty="0"/>
              <a:t> из 15</a:t>
            </a:r>
            <a:endParaRPr lang="en-US" sz="2000" dirty="0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 bwMode="auto">
          <a:xfrm>
            <a:off x="408088" y="366045"/>
            <a:ext cx="9417542" cy="548717"/>
          </a:xfrm>
        </p:spPr>
        <p:txBody>
          <a:bodyPr/>
          <a:lstStyle/>
          <a:p>
            <a:pPr>
              <a:defRPr/>
            </a:pPr>
            <a:r>
              <a:rPr lang="ru-RU" dirty="0"/>
              <a:t>Графический интерфейс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408088" y="6207647"/>
            <a:ext cx="4344386" cy="365125"/>
          </a:xfrm>
        </p:spPr>
        <p:txBody>
          <a:bodyPr/>
          <a:lstStyle/>
          <a:p>
            <a:pPr>
              <a:defRPr/>
            </a:pPr>
            <a:r>
              <a:rPr lang="ru-RU" dirty="0"/>
              <a:t>Графический интерфейс</a:t>
            </a:r>
          </a:p>
        </p:txBody>
      </p: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1850621" y="3238038"/>
            <a:ext cx="17161530" cy="480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14" name="Google Shape;166;p18"/>
          <p:cNvSpPr txBox="1"/>
          <p:nvPr/>
        </p:nvSpPr>
        <p:spPr>
          <a:xfrm>
            <a:off x="836713" y="852845"/>
            <a:ext cx="4905375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Public:</a:t>
            </a:r>
            <a:r>
              <a:rPr lang="en-US" sz="2000" b="0" i="0" u="none" strike="noStrike" cap="none" dirty="0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000" b="0" i="0" u="none" strike="noStrike" cap="none" dirty="0" err="1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Просмотр</a:t>
            </a:r>
            <a:r>
              <a:rPr lang="en-US" sz="2000" b="0" i="0" u="none" strike="noStrike" cap="none" dirty="0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000" b="0" i="0" u="none" strike="noStrike" cap="none" dirty="0" err="1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афиши</a:t>
            </a:r>
            <a:endParaRPr sz="2000" dirty="0"/>
          </a:p>
        </p:txBody>
      </p:sp>
      <p:sp>
        <p:nvSpPr>
          <p:cNvPr id="15" name="Google Shape;167;p18"/>
          <p:cNvSpPr txBox="1"/>
          <p:nvPr/>
        </p:nvSpPr>
        <p:spPr>
          <a:xfrm>
            <a:off x="846238" y="1329095"/>
            <a:ext cx="4810125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Guest:</a:t>
            </a:r>
            <a:r>
              <a:rPr lang="en-US" sz="2000" b="0" i="0" u="none" strike="noStrike" cap="none" dirty="0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000" b="0" i="0" u="none" strike="noStrike" cap="none" dirty="0" err="1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Создание</a:t>
            </a:r>
            <a:r>
              <a:rPr lang="en-US" sz="2000" b="0" i="0" u="none" strike="noStrike" cap="none" dirty="0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 и </a:t>
            </a:r>
            <a:r>
              <a:rPr lang="en-US" sz="2000" b="0" i="0" u="none" strike="noStrike" cap="none" dirty="0" err="1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запись</a:t>
            </a:r>
            <a:endParaRPr sz="2000" dirty="0"/>
          </a:p>
        </p:txBody>
      </p:sp>
      <p:sp>
        <p:nvSpPr>
          <p:cNvPr id="16" name="Google Shape;168;p18"/>
          <p:cNvSpPr txBox="1"/>
          <p:nvPr/>
        </p:nvSpPr>
        <p:spPr>
          <a:xfrm>
            <a:off x="846237" y="1798449"/>
            <a:ext cx="4810125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Super User:</a:t>
            </a:r>
            <a:r>
              <a:rPr lang="en-US" sz="2000" b="0" i="0" u="none" strike="noStrike" cap="none" dirty="0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000" b="0" i="0" u="none" strike="noStrike" cap="none" dirty="0" err="1">
                <a:solidFill>
                  <a:srgbClr val="1A202C"/>
                </a:solidFill>
                <a:latin typeface="Open Sans"/>
                <a:ea typeface="Open Sans"/>
                <a:cs typeface="Open Sans"/>
                <a:sym typeface="Open Sans"/>
              </a:rPr>
              <a:t>Модерация</a:t>
            </a:r>
            <a:endParaRPr sz="2000" dirty="0"/>
          </a:p>
        </p:txBody>
      </p:sp>
      <p:pic>
        <p:nvPicPr>
          <p:cNvPr id="17" name="Google Shape;169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8088" y="868620"/>
            <a:ext cx="238125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70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08088" y="1344870"/>
            <a:ext cx="333375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71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08088" y="1821120"/>
            <a:ext cx="333375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646212" y="1900606"/>
            <a:ext cx="17907854" cy="486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graphicFrame>
        <p:nvGraphicFramePr>
          <p:cNvPr id="8" name="Объект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64274456"/>
              </p:ext>
            </p:extLst>
          </p:nvPr>
        </p:nvGraphicFramePr>
        <p:xfrm>
          <a:off x="636053" y="1870127"/>
          <a:ext cx="11791950" cy="40611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40" name="Visio" r:id="rId6" imgW="11094932" imgH="3809858" progId="Visio.Drawing.15">
                  <p:embed/>
                </p:oleObj>
              </mc:Choice>
              <mc:Fallback>
                <p:oleObj name="Visio" r:id="rId6" imgW="11094932" imgH="3809858" progId="Visio.Drawing.15">
                  <p:embed/>
                  <p:pic>
                    <p:nvPicPr>
                      <p:cNvPr id="0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6053" y="1870127"/>
                        <a:ext cx="11791950" cy="4061180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673576272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3AB6C55-58EA-40D4-AEDD-ACF6FA1FB47F}" type="slidenum">
              <a:rPr lang="en-US" sz="2000" smtClean="0"/>
              <a:t>6</a:t>
            </a:fld>
            <a:r>
              <a:rPr lang="ru-RU" sz="2000" dirty="0"/>
              <a:t> из 15</a:t>
            </a:r>
            <a:endParaRPr lang="en-US" sz="2000" dirty="0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 bwMode="auto">
          <a:xfrm>
            <a:off x="408088" y="366045"/>
            <a:ext cx="9417542" cy="548717"/>
          </a:xfrm>
        </p:spPr>
        <p:txBody>
          <a:bodyPr/>
          <a:lstStyle/>
          <a:p>
            <a:pPr>
              <a:defRPr/>
            </a:pPr>
            <a:r>
              <a:rPr lang="ru-RU" dirty="0"/>
              <a:t>Принципы </a:t>
            </a:r>
            <a:r>
              <a:rPr lang="en-US" dirty="0"/>
              <a:t>GUI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408088" y="6207647"/>
            <a:ext cx="4344386" cy="365125"/>
          </a:xfrm>
        </p:spPr>
        <p:txBody>
          <a:bodyPr/>
          <a:lstStyle/>
          <a:p>
            <a:pPr>
              <a:defRPr/>
            </a:pPr>
            <a:r>
              <a:rPr lang="ru-RU" dirty="0"/>
              <a:t>Принципы </a:t>
            </a:r>
            <a:r>
              <a:rPr lang="en-US" dirty="0"/>
              <a:t>GUI</a:t>
            </a:r>
            <a:endParaRPr lang="ru-RU" dirty="0"/>
          </a:p>
        </p:txBody>
      </p:sp>
      <p:grpSp>
        <p:nvGrpSpPr>
          <p:cNvPr id="13" name="Группа 12"/>
          <p:cNvGrpSpPr/>
          <p:nvPr/>
        </p:nvGrpSpPr>
        <p:grpSpPr>
          <a:xfrm>
            <a:off x="408088" y="1646234"/>
            <a:ext cx="5104454" cy="3578747"/>
            <a:chOff x="408088" y="1646234"/>
            <a:chExt cx="5104454" cy="3578747"/>
          </a:xfrm>
        </p:grpSpPr>
        <p:pic>
          <p:nvPicPr>
            <p:cNvPr id="7" name="Google Shape;121;p16" descr="image.png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408088" y="1646234"/>
              <a:ext cx="5104454" cy="3578747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" name="Прямоугольник 2"/>
            <p:cNvSpPr/>
            <p:nvPr/>
          </p:nvSpPr>
          <p:spPr>
            <a:xfrm>
              <a:off x="1289825" y="2902821"/>
              <a:ext cx="3340979" cy="92333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5400" dirty="0"/>
                <a:t>Простота</a:t>
              </a:r>
            </a:p>
          </p:txBody>
        </p:sp>
      </p:grpSp>
      <p:grpSp>
        <p:nvGrpSpPr>
          <p:cNvPr id="14" name="Группа 13"/>
          <p:cNvGrpSpPr/>
          <p:nvPr/>
        </p:nvGrpSpPr>
        <p:grpSpPr>
          <a:xfrm>
            <a:off x="6379707" y="1646233"/>
            <a:ext cx="5104454" cy="3578747"/>
            <a:chOff x="6379707" y="1646233"/>
            <a:chExt cx="5104454" cy="3578747"/>
          </a:xfrm>
        </p:grpSpPr>
        <p:pic>
          <p:nvPicPr>
            <p:cNvPr id="11" name="Google Shape;121;p16" descr="image.png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6379707" y="1646233"/>
              <a:ext cx="5104454" cy="3578747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Прямоугольник 11"/>
            <p:cNvSpPr/>
            <p:nvPr/>
          </p:nvSpPr>
          <p:spPr>
            <a:xfrm>
              <a:off x="6919820" y="2973941"/>
              <a:ext cx="3833101" cy="92333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5400" dirty="0"/>
                <a:t>Видимость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4265472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3AB6C55-58EA-40D4-AEDD-ACF6FA1FB47F}" type="slidenum">
              <a:rPr lang="en-US" sz="2000" smtClean="0"/>
              <a:t>7</a:t>
            </a:fld>
            <a:r>
              <a:rPr lang="ru-RU" sz="2000" dirty="0"/>
              <a:t> из 15</a:t>
            </a:r>
            <a:endParaRPr lang="en-US" sz="2000" dirty="0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 bwMode="auto">
          <a:xfrm>
            <a:off x="408088" y="366045"/>
            <a:ext cx="9417542" cy="548717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ru-RU" dirty="0"/>
              <a:t>Руководство оператора. ГОСТЫ</a:t>
            </a:r>
            <a:br>
              <a:rPr lang="ru-RU" dirty="0"/>
            </a:br>
            <a:endParaRPr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ru-RU" dirty="0"/>
              <a:t>Руководство оператора. ГОСТЫ</a:t>
            </a:r>
            <a:endParaRPr lang="en-US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408088" y="1722570"/>
            <a:ext cx="1136481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/>
              <a:t>(Руководство оператора. Требования к содержанию и оформлению): https://www.swrit.ru/doc/espd/19.505-79.pdf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08089" y="4347248"/>
            <a:ext cx="741511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/>
              <a:t>(Требования к печатным документам): https://www.swrit.ru/doc/espd/19.106-78.pdf</a:t>
            </a:r>
          </a:p>
        </p:txBody>
      </p:sp>
      <p:sp>
        <p:nvSpPr>
          <p:cNvPr id="10" name="Google Shape;190;p20"/>
          <p:cNvSpPr txBox="1"/>
          <p:nvPr/>
        </p:nvSpPr>
        <p:spPr>
          <a:xfrm>
            <a:off x="489794" y="1260234"/>
            <a:ext cx="560070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 b="1" dirty="0">
                <a:solidFill>
                  <a:srgbClr val="48BB78"/>
                </a:solidFill>
                <a:ea typeface="Montserrat"/>
                <a:cs typeface="Montserrat"/>
                <a:sym typeface="Montserrat"/>
              </a:rPr>
              <a:t>ГОСТ</a:t>
            </a:r>
            <a:r>
              <a:rPr lang="en-US" sz="3200" b="1" i="0" u="none" strike="noStrike" cap="none" dirty="0">
                <a:solidFill>
                  <a:srgbClr val="48BB78"/>
                </a:solidFill>
                <a:ea typeface="Montserrat"/>
                <a:cs typeface="Montserrat"/>
                <a:sym typeface="Montserrat"/>
              </a:rPr>
              <a:t> 19.505-79</a:t>
            </a:r>
            <a:endParaRPr sz="3200" dirty="0"/>
          </a:p>
        </p:txBody>
      </p:sp>
      <p:sp>
        <p:nvSpPr>
          <p:cNvPr id="11" name="Google Shape;190;p20"/>
          <p:cNvSpPr txBox="1"/>
          <p:nvPr/>
        </p:nvSpPr>
        <p:spPr>
          <a:xfrm>
            <a:off x="489794" y="2584143"/>
            <a:ext cx="560070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 b="1" dirty="0">
                <a:solidFill>
                  <a:srgbClr val="48BB78"/>
                </a:solidFill>
                <a:ea typeface="Montserrat"/>
                <a:cs typeface="Montserrat"/>
                <a:sym typeface="Montserrat"/>
              </a:rPr>
              <a:t>ГОСТ</a:t>
            </a:r>
            <a:r>
              <a:rPr lang="en-US" sz="3200" b="1" i="0" u="none" strike="noStrike" cap="none" dirty="0">
                <a:solidFill>
                  <a:srgbClr val="48BB78"/>
                </a:solidFill>
                <a:ea typeface="Montserrat"/>
                <a:cs typeface="Montserrat"/>
                <a:sym typeface="Montserrat"/>
              </a:rPr>
              <a:t> 19.</a:t>
            </a:r>
            <a:r>
              <a:rPr lang="ru-RU" sz="3200" b="1" i="0" u="none" strike="noStrike" cap="none" dirty="0">
                <a:solidFill>
                  <a:srgbClr val="48BB78"/>
                </a:solidFill>
                <a:ea typeface="Montserrat"/>
                <a:cs typeface="Montserrat"/>
                <a:sym typeface="Montserrat"/>
              </a:rPr>
              <a:t>104</a:t>
            </a:r>
            <a:r>
              <a:rPr lang="en-US" sz="3200" b="1" i="0" u="none" strike="noStrike" cap="none" dirty="0">
                <a:solidFill>
                  <a:srgbClr val="48BB78"/>
                </a:solidFill>
                <a:ea typeface="Montserrat"/>
                <a:cs typeface="Montserrat"/>
                <a:sym typeface="Montserrat"/>
              </a:rPr>
              <a:t>-7</a:t>
            </a:r>
            <a:r>
              <a:rPr lang="ru-RU" sz="3200" b="1" i="0" u="none" strike="noStrike" cap="none" dirty="0">
                <a:solidFill>
                  <a:srgbClr val="48BB78"/>
                </a:solidFill>
                <a:ea typeface="Montserrat"/>
                <a:cs typeface="Montserrat"/>
                <a:sym typeface="Montserrat"/>
              </a:rPr>
              <a:t>8</a:t>
            </a:r>
            <a:endParaRPr sz="3200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408088" y="3041212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(Основные надписи): https://www.swrit.ru/doc/espd/19.104-78.pdf</a:t>
            </a:r>
          </a:p>
        </p:txBody>
      </p:sp>
      <p:sp>
        <p:nvSpPr>
          <p:cNvPr id="12" name="Google Shape;190;p20"/>
          <p:cNvSpPr txBox="1"/>
          <p:nvPr/>
        </p:nvSpPr>
        <p:spPr>
          <a:xfrm>
            <a:off x="489794" y="3843467"/>
            <a:ext cx="560070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 b="1" dirty="0">
                <a:solidFill>
                  <a:srgbClr val="48BB78"/>
                </a:solidFill>
                <a:ea typeface="Montserrat"/>
                <a:cs typeface="Montserrat"/>
                <a:sym typeface="Montserrat"/>
              </a:rPr>
              <a:t>ГОСТ</a:t>
            </a:r>
            <a:r>
              <a:rPr lang="en-US" sz="3200" b="1" i="0" u="none" strike="noStrike" cap="none" dirty="0">
                <a:solidFill>
                  <a:srgbClr val="48BB78"/>
                </a:solidFill>
                <a:ea typeface="Montserrat"/>
                <a:cs typeface="Montserrat"/>
                <a:sym typeface="Montserrat"/>
              </a:rPr>
              <a:t> 19.</a:t>
            </a:r>
            <a:r>
              <a:rPr lang="ru-RU" sz="3200" b="1" i="0" u="none" strike="noStrike" cap="none" dirty="0">
                <a:solidFill>
                  <a:srgbClr val="48BB78"/>
                </a:solidFill>
                <a:ea typeface="Montserrat"/>
                <a:cs typeface="Montserrat"/>
                <a:sym typeface="Montserrat"/>
              </a:rPr>
              <a:t>106</a:t>
            </a:r>
            <a:r>
              <a:rPr lang="en-US" sz="3200" b="1" i="0" u="none" strike="noStrike" cap="none" dirty="0">
                <a:solidFill>
                  <a:srgbClr val="48BB78"/>
                </a:solidFill>
                <a:ea typeface="Montserrat"/>
                <a:cs typeface="Montserrat"/>
                <a:sym typeface="Montserrat"/>
              </a:rPr>
              <a:t>-7</a:t>
            </a:r>
            <a:r>
              <a:rPr lang="ru-RU" sz="3200" b="1" i="0" u="none" strike="noStrike" cap="none" dirty="0">
                <a:solidFill>
                  <a:srgbClr val="48BB78"/>
                </a:solidFill>
                <a:ea typeface="Montserrat"/>
                <a:cs typeface="Montserrat"/>
                <a:sym typeface="Montserrat"/>
              </a:rPr>
              <a:t>8</a:t>
            </a:r>
            <a:endParaRPr sz="3200" dirty="0"/>
          </a:p>
        </p:txBody>
      </p:sp>
    </p:spTree>
    <p:extLst>
      <p:ext uri="{BB962C8B-B14F-4D97-AF65-F5344CB8AC3E}">
        <p14:creationId xmlns:p14="http://schemas.microsoft.com/office/powerpoint/2010/main" val="2315006903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3AB6C55-58EA-40D4-AEDD-ACF6FA1FB47F}" type="slidenum">
              <a:rPr lang="en-US" sz="2000" smtClean="0"/>
              <a:t>8</a:t>
            </a:fld>
            <a:r>
              <a:rPr lang="ru-RU" sz="2000" dirty="0"/>
              <a:t> из 15</a:t>
            </a:r>
            <a:endParaRPr lang="en-US" sz="2000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408088" y="6207647"/>
            <a:ext cx="4344386" cy="365125"/>
          </a:xfrm>
        </p:spPr>
        <p:txBody>
          <a:bodyPr/>
          <a:lstStyle/>
          <a:p>
            <a:pPr>
              <a:defRPr/>
            </a:pPr>
            <a:r>
              <a:rPr lang="ru-RU" dirty="0"/>
              <a:t>Руководство оператора. Функционал</a:t>
            </a:r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Руководство оператора. Функционал. </a:t>
            </a:r>
          </a:p>
        </p:txBody>
      </p:sp>
      <p:pic>
        <p:nvPicPr>
          <p:cNvPr id="9" name="Google Shape;201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8088" y="2337435"/>
            <a:ext cx="5381625" cy="2647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202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75463" y="2337435"/>
            <a:ext cx="5381625" cy="264795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203;p21"/>
          <p:cNvSpPr txBox="1"/>
          <p:nvPr/>
        </p:nvSpPr>
        <p:spPr>
          <a:xfrm>
            <a:off x="1770163" y="2849523"/>
            <a:ext cx="4850606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>
                <a:solidFill>
                  <a:srgbClr val="2D3748"/>
                </a:solidFill>
                <a:ea typeface="Montserrat"/>
                <a:cs typeface="Montserrat"/>
                <a:sym typeface="Montserrat"/>
              </a:rPr>
              <a:t>МОДЕРАЦИЯ</a:t>
            </a:r>
            <a:endParaRPr sz="2800" dirty="0"/>
          </a:p>
        </p:txBody>
      </p:sp>
      <p:sp>
        <p:nvSpPr>
          <p:cNvPr id="12" name="Google Shape;204;p21"/>
          <p:cNvSpPr txBox="1"/>
          <p:nvPr/>
        </p:nvSpPr>
        <p:spPr>
          <a:xfrm>
            <a:off x="789088" y="3545932"/>
            <a:ext cx="4905375" cy="1061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 u="none" strike="noStrike" cap="none" dirty="0" err="1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Ручная</a:t>
            </a:r>
            <a:r>
              <a:rPr lang="en-US" sz="2300" b="0" i="0" u="none" strike="noStrike" cap="none" dirty="0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 </a:t>
            </a:r>
            <a:r>
              <a:rPr lang="en-US" sz="2300" b="0" i="0" u="none" strike="noStrike" cap="none" dirty="0" err="1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проверка</a:t>
            </a:r>
            <a:r>
              <a:rPr lang="en-US" sz="2300" b="0" i="0" u="none" strike="noStrike" cap="none" dirty="0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 </a:t>
            </a:r>
            <a:r>
              <a:rPr lang="en-US" sz="2300" b="0" i="0" u="none" strike="noStrike" cap="none" dirty="0" err="1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имен</a:t>
            </a:r>
            <a:r>
              <a:rPr lang="en-US" sz="2300" b="0" i="0" u="none" strike="noStrike" cap="none" dirty="0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 и </a:t>
            </a:r>
            <a:r>
              <a:rPr lang="en-US" sz="2300" b="0" i="0" u="none" strike="noStrike" cap="none" dirty="0" err="1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фото</a:t>
            </a:r>
            <a:r>
              <a:rPr lang="en-US" sz="2300" b="0" i="0" u="none" strike="noStrike" cap="none" dirty="0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. </a:t>
            </a:r>
            <a:r>
              <a:rPr lang="en-US" sz="2300" b="0" i="0" u="none" strike="noStrike" cap="none" dirty="0" err="1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Удаление</a:t>
            </a:r>
            <a:r>
              <a:rPr lang="en-US" sz="2300" b="0" i="0" u="none" strike="noStrike" cap="none" dirty="0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 </a:t>
            </a:r>
            <a:r>
              <a:rPr lang="en-US" sz="2300" b="0" i="0" u="none" strike="noStrike" cap="none" dirty="0" err="1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профилей</a:t>
            </a:r>
            <a:r>
              <a:rPr lang="en-US" sz="2300" b="0" i="0" u="none" strike="noStrike" cap="none" dirty="0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 </a:t>
            </a:r>
            <a:r>
              <a:rPr lang="en-US" sz="2300" b="0" i="0" u="none" strike="noStrike" cap="none" dirty="0" err="1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нарушителей</a:t>
            </a:r>
            <a:r>
              <a:rPr lang="en-US" sz="2300" b="0" i="0" u="none" strike="noStrike" cap="none" dirty="0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 с </a:t>
            </a:r>
            <a:r>
              <a:rPr lang="en-US" sz="2300" b="0" i="0" u="none" strike="noStrike" cap="none" dirty="0" err="1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указанием</a:t>
            </a:r>
            <a:r>
              <a:rPr lang="en-US" sz="2300" b="0" i="0" u="none" strike="noStrike" cap="none" dirty="0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 </a:t>
            </a:r>
            <a:r>
              <a:rPr lang="en-US" sz="2300" b="0" i="0" u="none" strike="noStrike" cap="none" dirty="0" err="1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причины</a:t>
            </a:r>
            <a:r>
              <a:rPr lang="en-US" sz="2300" b="0" i="0" u="none" strike="noStrike" cap="none" dirty="0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.</a:t>
            </a:r>
            <a:endParaRPr sz="2300" dirty="0"/>
          </a:p>
        </p:txBody>
      </p:sp>
      <p:sp>
        <p:nvSpPr>
          <p:cNvPr id="13" name="Google Shape;205;p21"/>
          <p:cNvSpPr txBox="1"/>
          <p:nvPr/>
        </p:nvSpPr>
        <p:spPr>
          <a:xfrm>
            <a:off x="7313713" y="2849522"/>
            <a:ext cx="4850606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>
                <a:solidFill>
                  <a:srgbClr val="2D3748"/>
                </a:solidFill>
                <a:ea typeface="Montserrat"/>
                <a:cs typeface="Montserrat"/>
                <a:sym typeface="Montserrat"/>
              </a:rPr>
              <a:t>ВАЛИДАЦИЯ</a:t>
            </a:r>
            <a:endParaRPr sz="2800" dirty="0"/>
          </a:p>
        </p:txBody>
      </p:sp>
      <p:sp>
        <p:nvSpPr>
          <p:cNvPr id="14" name="Google Shape;206;p21"/>
          <p:cNvSpPr txBox="1"/>
          <p:nvPr/>
        </p:nvSpPr>
        <p:spPr>
          <a:xfrm>
            <a:off x="6456463" y="3545932"/>
            <a:ext cx="4619625" cy="1061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 u="none" strike="noStrike" cap="none" dirty="0" err="1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Перехват</a:t>
            </a:r>
            <a:r>
              <a:rPr lang="en-US" sz="2300" b="0" i="0" u="none" strike="noStrike" cap="none" dirty="0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 </a:t>
            </a:r>
            <a:r>
              <a:rPr lang="en-US" sz="2300" b="0" i="0" u="none" strike="noStrike" cap="none" dirty="0" err="1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случайного</a:t>
            </a:r>
            <a:r>
              <a:rPr lang="en-US" sz="2300" b="0" i="0" u="none" strike="noStrike" cap="none" dirty="0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 </a:t>
            </a:r>
            <a:r>
              <a:rPr lang="en-US" sz="2300" b="0" i="0" u="none" strike="noStrike" cap="none" dirty="0" err="1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выхода</a:t>
            </a:r>
            <a:r>
              <a:rPr lang="en-US" sz="2300" b="0" i="0" u="none" strike="noStrike" cap="none" dirty="0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 и </a:t>
            </a:r>
            <a:r>
              <a:rPr lang="en-US" sz="2300" b="0" i="0" u="none" strike="noStrike" cap="none" dirty="0" err="1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проверка</a:t>
            </a:r>
            <a:r>
              <a:rPr lang="en-US" sz="2300" b="0" i="0" u="none" strike="noStrike" cap="none" dirty="0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 </a:t>
            </a:r>
            <a:r>
              <a:rPr lang="en-US" sz="2300" b="0" i="0" u="none" strike="noStrike" cap="none" dirty="0" err="1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корректности</a:t>
            </a:r>
            <a:r>
              <a:rPr lang="en-US" sz="2300" b="0" i="0" u="none" strike="noStrike" cap="none" dirty="0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 </a:t>
            </a:r>
            <a:r>
              <a:rPr lang="en-US" sz="2300" b="0" i="0" u="none" strike="noStrike" cap="none" dirty="0" err="1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данных</a:t>
            </a:r>
            <a:r>
              <a:rPr lang="en-US" sz="2300" b="0" i="0" u="none" strike="noStrike" cap="none" dirty="0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 </a:t>
            </a:r>
            <a:r>
              <a:rPr lang="en-US" sz="2300" b="0" i="0" u="none" strike="noStrike" cap="none" dirty="0" err="1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через</a:t>
            </a:r>
            <a:r>
              <a:rPr lang="en-US" sz="2300" b="0" i="0" u="none" strike="noStrike" cap="none" dirty="0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 </a:t>
            </a:r>
            <a:r>
              <a:rPr lang="en-US" sz="2300" b="0" i="0" u="none" strike="noStrike" cap="none" dirty="0" err="1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формы</a:t>
            </a:r>
            <a:r>
              <a:rPr lang="en-US" sz="2300" b="0" i="0" u="none" strike="noStrike" cap="none" dirty="0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.</a:t>
            </a:r>
            <a:endParaRPr sz="2300" dirty="0"/>
          </a:p>
        </p:txBody>
      </p:sp>
      <p:pic>
        <p:nvPicPr>
          <p:cNvPr id="15" name="Google Shape;207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9088" y="2804160"/>
            <a:ext cx="600075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208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56463" y="2804160"/>
            <a:ext cx="476250" cy="4762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47768590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3AB6C55-58EA-40D4-AEDD-ACF6FA1FB47F}" type="slidenum">
              <a:rPr lang="en-US" sz="2000" smtClean="0"/>
              <a:t>9</a:t>
            </a:fld>
            <a:r>
              <a:rPr lang="ru-RU" sz="2000" dirty="0"/>
              <a:t> из 15</a:t>
            </a:r>
            <a:endParaRPr lang="en-US" sz="2000" dirty="0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 bwMode="auto">
          <a:xfrm>
            <a:off x="408088" y="366045"/>
            <a:ext cx="9417542" cy="548717"/>
          </a:xfrm>
        </p:spPr>
        <p:txBody>
          <a:bodyPr/>
          <a:lstStyle/>
          <a:p>
            <a:pPr>
              <a:defRPr/>
            </a:pPr>
            <a:r>
              <a:rPr lang="ru-RU" dirty="0"/>
              <a:t>Руководство оператора. Ошибка - Решение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408088" y="6207647"/>
            <a:ext cx="4344386" cy="365125"/>
          </a:xfrm>
        </p:spPr>
        <p:txBody>
          <a:bodyPr/>
          <a:lstStyle/>
          <a:p>
            <a:pPr>
              <a:defRPr/>
            </a:pPr>
            <a:r>
              <a:rPr lang="ru-RU" dirty="0"/>
              <a:t>Руководство оператора. Ошибка - Решение</a:t>
            </a:r>
          </a:p>
        </p:txBody>
      </p:sp>
      <p:graphicFrame>
        <p:nvGraphicFramePr>
          <p:cNvPr id="7" name="Google Shape;206;p21"/>
          <p:cNvGraphicFramePr/>
          <p:nvPr>
            <p:extLst>
              <p:ext uri="{D42A27DB-BD31-4B8C-83A1-F6EECF244321}">
                <p14:modId xmlns:p14="http://schemas.microsoft.com/office/powerpoint/2010/main" val="2666632396"/>
              </p:ext>
            </p:extLst>
          </p:nvPr>
        </p:nvGraphicFramePr>
        <p:xfrm>
          <a:off x="408088" y="1956007"/>
          <a:ext cx="11039475" cy="321039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240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98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76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 err="1">
                          <a:latin typeface="+mj-lt"/>
                          <a:sym typeface="Lato"/>
                        </a:rPr>
                        <a:t>Ситуация</a:t>
                      </a:r>
                      <a:r>
                        <a:rPr lang="en-US" sz="2800" u="none" strike="noStrike" cap="none" dirty="0">
                          <a:latin typeface="+mj-lt"/>
                          <a:sym typeface="Lato"/>
                        </a:rPr>
                        <a:t> / </a:t>
                      </a:r>
                      <a:r>
                        <a:rPr lang="en-US" sz="2800" u="none" strike="noStrike" cap="none" dirty="0" err="1">
                          <a:latin typeface="+mj-lt"/>
                          <a:sym typeface="Lato"/>
                        </a:rPr>
                        <a:t>Ошибка</a:t>
                      </a:r>
                      <a:endParaRPr sz="2800" dirty="0">
                        <a:latin typeface="+mj-lt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 err="1">
                          <a:latin typeface="+mj-lt"/>
                          <a:sym typeface="Lato"/>
                        </a:rPr>
                        <a:t>Метод</a:t>
                      </a:r>
                      <a:r>
                        <a:rPr lang="en-US" sz="2800" u="none" strike="noStrike" cap="none" dirty="0">
                          <a:latin typeface="+mj-lt"/>
                          <a:sym typeface="Lato"/>
                        </a:rPr>
                        <a:t> </a:t>
                      </a:r>
                      <a:r>
                        <a:rPr lang="en-US" sz="2800" u="none" strike="noStrike" cap="none" dirty="0" err="1">
                          <a:latin typeface="+mj-lt"/>
                          <a:sym typeface="Lato"/>
                        </a:rPr>
                        <a:t>решения</a:t>
                      </a:r>
                      <a:endParaRPr sz="2800" dirty="0">
                        <a:latin typeface="+mj-lt"/>
                      </a:endParaRPr>
                    </a:p>
                  </a:txBody>
                  <a:tcPr marL="63500" marR="63500" marT="25400" marB="254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76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 err="1">
                          <a:latin typeface="+mj-lt"/>
                          <a:sym typeface="Lato"/>
                        </a:rPr>
                        <a:t>Случайный</a:t>
                      </a:r>
                      <a:r>
                        <a:rPr lang="en-US" sz="2800" u="none" strike="noStrike" cap="none" dirty="0">
                          <a:latin typeface="+mj-lt"/>
                          <a:sym typeface="Lato"/>
                        </a:rPr>
                        <a:t> </a:t>
                      </a:r>
                      <a:r>
                        <a:rPr lang="en-US" sz="2800" u="none" strike="noStrike" cap="none" dirty="0" err="1">
                          <a:latin typeface="+mj-lt"/>
                          <a:sym typeface="Lato"/>
                        </a:rPr>
                        <a:t>выход</a:t>
                      </a:r>
                      <a:r>
                        <a:rPr lang="en-US" sz="2800" u="none" strike="noStrike" cap="none" dirty="0">
                          <a:latin typeface="+mj-lt"/>
                          <a:sym typeface="Lato"/>
                        </a:rPr>
                        <a:t> </a:t>
                      </a:r>
                      <a:r>
                        <a:rPr lang="en-US" sz="2800" u="none" strike="noStrike" cap="none" dirty="0" err="1">
                          <a:latin typeface="+mj-lt"/>
                          <a:sym typeface="Lato"/>
                        </a:rPr>
                        <a:t>оператора</a:t>
                      </a:r>
                      <a:endParaRPr sz="2800" dirty="0">
                        <a:latin typeface="+mj-lt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>
                          <a:latin typeface="+mj-lt"/>
                          <a:sym typeface="Lato"/>
                        </a:rPr>
                        <a:t>Валидационное окно «Вы действительно хотите выйти?»</a:t>
                      </a:r>
                      <a:endParaRPr sz="2800">
                        <a:latin typeface="+mj-lt"/>
                      </a:endParaRPr>
                    </a:p>
                  </a:txBody>
                  <a:tcPr marL="63500" marR="63500" marT="25400" marB="254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76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>
                          <a:latin typeface="+mj-lt"/>
                          <a:sym typeface="Lato"/>
                        </a:rPr>
                        <a:t>Недопустимый контент в событии</a:t>
                      </a:r>
                      <a:endParaRPr sz="2800">
                        <a:latin typeface="+mj-lt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>
                          <a:latin typeface="+mj-lt"/>
                          <a:sym typeface="Lato"/>
                        </a:rPr>
                        <a:t>Блокировка публикации модератором с уведомлением</a:t>
                      </a:r>
                      <a:endParaRPr sz="2800">
                        <a:latin typeface="+mj-lt"/>
                      </a:endParaRPr>
                    </a:p>
                  </a:txBody>
                  <a:tcPr marL="63500" marR="63500" marT="25400" marB="254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76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 err="1">
                          <a:latin typeface="+mj-lt"/>
                          <a:sym typeface="Lato"/>
                        </a:rPr>
                        <a:t>Некорректное</a:t>
                      </a:r>
                      <a:r>
                        <a:rPr lang="en-US" sz="2800" u="none" strike="noStrike" cap="none" dirty="0">
                          <a:latin typeface="+mj-lt"/>
                          <a:sym typeface="Lato"/>
                        </a:rPr>
                        <a:t> </a:t>
                      </a:r>
                      <a:r>
                        <a:rPr lang="en-US" sz="2800" u="none" strike="noStrike" cap="none" dirty="0" err="1">
                          <a:latin typeface="+mj-lt"/>
                          <a:sym typeface="Lato"/>
                        </a:rPr>
                        <a:t>имя</a:t>
                      </a:r>
                      <a:r>
                        <a:rPr lang="en-US" sz="2800" u="none" strike="noStrike" cap="none" dirty="0">
                          <a:latin typeface="+mj-lt"/>
                          <a:sym typeface="Lato"/>
                        </a:rPr>
                        <a:t> </a:t>
                      </a:r>
                      <a:r>
                        <a:rPr lang="en-US" sz="2800" u="none" strike="noStrike" cap="none" dirty="0" err="1">
                          <a:latin typeface="+mj-lt"/>
                          <a:sym typeface="Lato"/>
                        </a:rPr>
                        <a:t>пользователя</a:t>
                      </a:r>
                      <a:endParaRPr sz="2800" dirty="0">
                        <a:latin typeface="+mj-lt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 err="1">
                          <a:latin typeface="+mj-lt"/>
                          <a:sym typeface="Lato"/>
                        </a:rPr>
                        <a:t>Принудительный</a:t>
                      </a:r>
                      <a:r>
                        <a:rPr lang="en-US" sz="2800" u="none" strike="noStrike" cap="none" dirty="0">
                          <a:latin typeface="+mj-lt"/>
                          <a:sym typeface="Lato"/>
                        </a:rPr>
                        <a:t> </a:t>
                      </a:r>
                      <a:r>
                        <a:rPr lang="en-US" sz="2800" u="none" strike="noStrike" cap="none" dirty="0" err="1">
                          <a:latin typeface="+mj-lt"/>
                          <a:sym typeface="Lato"/>
                        </a:rPr>
                        <a:t>откат</a:t>
                      </a:r>
                      <a:r>
                        <a:rPr lang="en-US" sz="2800" u="none" strike="noStrike" cap="none" dirty="0">
                          <a:latin typeface="+mj-lt"/>
                          <a:sym typeface="Lato"/>
                        </a:rPr>
                        <a:t> </a:t>
                      </a:r>
                      <a:r>
                        <a:rPr lang="en-US" sz="2800" u="none" strike="noStrike" cap="none" dirty="0" err="1">
                          <a:latin typeface="+mj-lt"/>
                          <a:sym typeface="Lato"/>
                        </a:rPr>
                        <a:t>данных</a:t>
                      </a:r>
                      <a:r>
                        <a:rPr lang="en-US" sz="2800" u="none" strike="noStrike" cap="none" dirty="0">
                          <a:latin typeface="+mj-lt"/>
                          <a:sym typeface="Lato"/>
                        </a:rPr>
                        <a:t> </a:t>
                      </a:r>
                      <a:r>
                        <a:rPr lang="en-US" sz="2800" u="none" strike="noStrike" cap="none" dirty="0" err="1">
                          <a:latin typeface="+mj-lt"/>
                          <a:sym typeface="Lato"/>
                        </a:rPr>
                        <a:t>через</a:t>
                      </a:r>
                      <a:r>
                        <a:rPr lang="en-US" sz="2800" u="none" strike="noStrike" cap="none" dirty="0">
                          <a:latin typeface="+mj-lt"/>
                          <a:sym typeface="Lato"/>
                        </a:rPr>
                        <a:t> </a:t>
                      </a:r>
                      <a:r>
                        <a:rPr lang="en-US" sz="2800" u="none" strike="noStrike" cap="none" dirty="0" err="1">
                          <a:latin typeface="+mj-lt"/>
                          <a:sym typeface="Lato"/>
                        </a:rPr>
                        <a:t>панель</a:t>
                      </a:r>
                      <a:r>
                        <a:rPr lang="en-US" sz="2800" u="none" strike="noStrike" cap="none" dirty="0">
                          <a:latin typeface="+mj-lt"/>
                          <a:sym typeface="Lato"/>
                        </a:rPr>
                        <a:t> </a:t>
                      </a:r>
                      <a:r>
                        <a:rPr lang="en-US" sz="2800" u="none" strike="noStrike" cap="none" dirty="0" err="1">
                          <a:latin typeface="+mj-lt"/>
                          <a:sym typeface="Lato"/>
                        </a:rPr>
                        <a:t>управления</a:t>
                      </a:r>
                      <a:endParaRPr sz="2800" dirty="0">
                        <a:latin typeface="+mj-lt"/>
                      </a:endParaRPr>
                    </a:p>
                  </a:txBody>
                  <a:tcPr marL="63500" marR="63500" marT="25400" marB="254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2875603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3AB6C55-58EA-40D4-AEDD-ACF6FA1FB47F}" type="slidenum">
              <a:rPr lang="en-US" sz="2000" smtClean="0"/>
              <a:t>10</a:t>
            </a:fld>
            <a:r>
              <a:rPr lang="ru-RU" sz="2000" dirty="0"/>
              <a:t> из 15</a:t>
            </a:r>
            <a:endParaRPr lang="en-US" sz="2000" dirty="0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 bwMode="auto">
          <a:xfrm>
            <a:off x="408088" y="366045"/>
            <a:ext cx="9417542" cy="548717"/>
          </a:xfrm>
        </p:spPr>
        <p:txBody>
          <a:bodyPr/>
          <a:lstStyle/>
          <a:p>
            <a:pPr>
              <a:defRPr/>
            </a:pPr>
            <a:r>
              <a:rPr lang="ru-RU" dirty="0"/>
              <a:t>Оценочные элементы (Метрики системы)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408088" y="6207647"/>
            <a:ext cx="4344386" cy="365125"/>
          </a:xfrm>
        </p:spPr>
        <p:txBody>
          <a:bodyPr/>
          <a:lstStyle/>
          <a:p>
            <a:pPr>
              <a:defRPr/>
            </a:pPr>
            <a:r>
              <a:rPr lang="ru-RU" dirty="0"/>
              <a:t>Оценочные элементы (Метрики системы)</a:t>
            </a:r>
          </a:p>
        </p:txBody>
      </p: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476654" y="914762"/>
            <a:ext cx="6041689" cy="486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8" name="Google Shape;178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6654" y="1006279"/>
            <a:ext cx="10679026" cy="914400"/>
          </a:xfrm>
          <a:prstGeom prst="rect">
            <a:avLst/>
          </a:prstGeom>
          <a:noFill/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" name="Прямоугольник 2"/>
          <p:cNvSpPr/>
          <p:nvPr/>
        </p:nvSpPr>
        <p:spPr>
          <a:xfrm>
            <a:off x="793699" y="1166372"/>
            <a:ext cx="630172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/>
              <a:t>Надежность: </a:t>
            </a:r>
            <a:r>
              <a:rPr lang="ru-RU" sz="2000" dirty="0"/>
              <a:t>Восстановление сервера ≤30 мин</a:t>
            </a:r>
          </a:p>
        </p:txBody>
      </p:sp>
      <p:pic>
        <p:nvPicPr>
          <p:cNvPr id="11" name="Google Shape;178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6654" y="2048457"/>
            <a:ext cx="10679026" cy="914400"/>
          </a:xfrm>
          <a:prstGeom prst="rect">
            <a:avLst/>
          </a:prstGeom>
          <a:noFill/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12" name="Google Shape;178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6654" y="3059709"/>
            <a:ext cx="10679026" cy="914400"/>
          </a:xfrm>
          <a:prstGeom prst="rect">
            <a:avLst/>
          </a:prstGeom>
          <a:noFill/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13" name="Google Shape;178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6654" y="5119172"/>
            <a:ext cx="10679026" cy="914400"/>
          </a:xfrm>
          <a:prstGeom prst="rect">
            <a:avLst/>
          </a:prstGeom>
          <a:noFill/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14" name="Google Shape;178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6654" y="4107920"/>
            <a:ext cx="10679026" cy="914400"/>
          </a:xfrm>
          <a:prstGeom prst="rect">
            <a:avLst/>
          </a:prstGeom>
          <a:noFill/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9" name="Прямоугольник 8"/>
          <p:cNvSpPr/>
          <p:nvPr/>
        </p:nvSpPr>
        <p:spPr>
          <a:xfrm>
            <a:off x="759542" y="2181355"/>
            <a:ext cx="104648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/>
              <a:t>Удобство использования: </a:t>
            </a:r>
            <a:r>
              <a:rPr lang="ru-RU" sz="2000" dirty="0"/>
              <a:t>Главный экран: вход/регистрация, поиск, ЛК, чат поддержки</a:t>
            </a:r>
          </a:p>
        </p:txBody>
      </p:sp>
      <p:sp>
        <p:nvSpPr>
          <p:cNvPr id="15" name="Прямоугольник 14"/>
          <p:cNvSpPr/>
          <p:nvPr/>
        </p:nvSpPr>
        <p:spPr>
          <a:xfrm>
            <a:off x="793698" y="3168689"/>
            <a:ext cx="1065662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/>
              <a:t>Производительность: </a:t>
            </a:r>
            <a:r>
              <a:rPr lang="ru-RU" sz="2000" dirty="0"/>
              <a:t>Отклик сервера 200–400 </a:t>
            </a:r>
            <a:r>
              <a:rPr lang="ru-RU" sz="2000" dirty="0" err="1"/>
              <a:t>мс</a:t>
            </a:r>
            <a:r>
              <a:rPr lang="ru-RU" sz="2000" dirty="0"/>
              <a:t> при 5000 пользователей</a:t>
            </a:r>
          </a:p>
        </p:txBody>
      </p:sp>
      <p:sp>
        <p:nvSpPr>
          <p:cNvPr id="16" name="Прямоугольник 15"/>
          <p:cNvSpPr/>
          <p:nvPr/>
        </p:nvSpPr>
        <p:spPr>
          <a:xfrm>
            <a:off x="793698" y="4341843"/>
            <a:ext cx="1106802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/>
              <a:t>Переносимость: </a:t>
            </a:r>
            <a:r>
              <a:rPr lang="ru-RU" sz="2000" dirty="0"/>
              <a:t>Адаптивность под 6 браузеров и 7 экранов (375–3840px)</a:t>
            </a:r>
          </a:p>
        </p:txBody>
      </p:sp>
      <p:sp>
        <p:nvSpPr>
          <p:cNvPr id="17" name="Прямоугольник 16"/>
          <p:cNvSpPr/>
          <p:nvPr/>
        </p:nvSpPr>
        <p:spPr>
          <a:xfrm>
            <a:off x="873935" y="5314942"/>
            <a:ext cx="1049614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/>
              <a:t>Функциональность: </a:t>
            </a:r>
            <a:r>
              <a:rPr lang="ru-RU" sz="2000" dirty="0"/>
              <a:t>Разделение прав по ролям (RBAC)</a:t>
            </a:r>
          </a:p>
        </p:txBody>
      </p:sp>
    </p:spTree>
    <p:extLst>
      <p:ext uri="{BB962C8B-B14F-4D97-AF65-F5344CB8AC3E}">
        <p14:creationId xmlns:p14="http://schemas.microsoft.com/office/powerpoint/2010/main" val="876890517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3AB6C55-58EA-40D4-AEDD-ACF6FA1FB47F}" type="slidenum">
              <a:rPr lang="en-US" sz="2000" smtClean="0"/>
              <a:t>11</a:t>
            </a:fld>
            <a:r>
              <a:rPr lang="ru-RU" sz="2000" dirty="0"/>
              <a:t> из 20</a:t>
            </a:r>
            <a:endParaRPr lang="en-US" sz="2000" dirty="0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 bwMode="auto">
          <a:xfrm>
            <a:off x="408088" y="366045"/>
            <a:ext cx="9417542" cy="548717"/>
          </a:xfrm>
        </p:spPr>
        <p:txBody>
          <a:bodyPr/>
          <a:lstStyle/>
          <a:p>
            <a:pPr>
              <a:defRPr/>
            </a:pPr>
            <a:r>
              <a:rPr lang="ru-RU" dirty="0"/>
              <a:t>Пример испытания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408088" y="6207647"/>
            <a:ext cx="4344386" cy="365125"/>
          </a:xfrm>
        </p:spPr>
        <p:txBody>
          <a:bodyPr/>
          <a:lstStyle/>
          <a:p>
            <a:pPr>
              <a:defRPr/>
            </a:pPr>
            <a:r>
              <a:rPr lang="ru-RU" dirty="0"/>
              <a:t>Пример испытания</a:t>
            </a: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9032" y="2081036"/>
            <a:ext cx="6056931" cy="3733623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59" y="2086721"/>
            <a:ext cx="4870873" cy="3771184"/>
          </a:xfrm>
          <a:prstGeom prst="rect">
            <a:avLst/>
          </a:prstGeom>
        </p:spPr>
      </p:pic>
      <p:sp>
        <p:nvSpPr>
          <p:cNvPr id="12" name="Google Shape;228;p23"/>
          <p:cNvSpPr txBox="1"/>
          <p:nvPr/>
        </p:nvSpPr>
        <p:spPr>
          <a:xfrm>
            <a:off x="865288" y="1071157"/>
            <a:ext cx="48768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Граничные</a:t>
            </a:r>
            <a:r>
              <a:rPr lang="en-US" sz="2000" b="0" i="0" u="none" strike="noStrike" cap="none" dirty="0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 </a:t>
            </a:r>
            <a:r>
              <a:rPr lang="en-US" sz="2000" b="0" i="0" u="none" strike="noStrike" cap="none" dirty="0" err="1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значения</a:t>
            </a:r>
            <a:endParaRPr sz="2000" dirty="0"/>
          </a:p>
        </p:txBody>
      </p:sp>
      <p:sp>
        <p:nvSpPr>
          <p:cNvPr id="13" name="Google Shape;229;p23"/>
          <p:cNvSpPr txBox="1"/>
          <p:nvPr/>
        </p:nvSpPr>
        <p:spPr>
          <a:xfrm>
            <a:off x="4022934" y="1059437"/>
            <a:ext cx="4838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Эквивалентное</a:t>
            </a:r>
            <a:r>
              <a:rPr lang="en-US" sz="2000" b="0" i="0" u="none" strike="noStrike" cap="none" dirty="0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 </a:t>
            </a:r>
            <a:r>
              <a:rPr lang="en-US" sz="2000" b="0" i="0" u="none" strike="noStrike" cap="none" dirty="0" err="1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разделение</a:t>
            </a:r>
            <a:endParaRPr sz="2000" dirty="0"/>
          </a:p>
        </p:txBody>
      </p:sp>
      <p:sp>
        <p:nvSpPr>
          <p:cNvPr id="14" name="Google Shape;230;p23"/>
          <p:cNvSpPr txBox="1"/>
          <p:nvPr/>
        </p:nvSpPr>
        <p:spPr>
          <a:xfrm>
            <a:off x="8212455" y="1081387"/>
            <a:ext cx="4810125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Предугадывание</a:t>
            </a:r>
            <a:r>
              <a:rPr lang="en-US" sz="2000" b="0" i="0" u="none" strike="noStrike" cap="none" dirty="0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 </a:t>
            </a:r>
            <a:r>
              <a:rPr lang="en-US" sz="2000" b="0" i="0" u="none" strike="noStrike" cap="none" dirty="0" err="1">
                <a:solidFill>
                  <a:srgbClr val="1A202C"/>
                </a:solidFill>
                <a:ea typeface="Open Sans"/>
                <a:cs typeface="Open Sans"/>
                <a:sym typeface="Open Sans"/>
              </a:rPr>
              <a:t>ошибок</a:t>
            </a:r>
            <a:endParaRPr sz="2000" dirty="0"/>
          </a:p>
        </p:txBody>
      </p:sp>
      <p:pic>
        <p:nvPicPr>
          <p:cNvPr id="15" name="Google Shape;231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08088" y="1086932"/>
            <a:ext cx="2667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232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527634" y="1075212"/>
            <a:ext cx="3048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233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88580" y="1097162"/>
            <a:ext cx="333375" cy="2762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97369162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3AB6C55-58EA-40D4-AEDD-ACF6FA1FB47F}" type="slidenum">
              <a:rPr lang="en-US" sz="2000" smtClean="0"/>
              <a:t>12</a:t>
            </a:fld>
            <a:r>
              <a:rPr lang="ru-RU" sz="2000" dirty="0"/>
              <a:t> из 15</a:t>
            </a:r>
            <a:endParaRPr lang="en-US" sz="2000" dirty="0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 bwMode="auto">
          <a:xfrm>
            <a:off x="408088" y="366045"/>
            <a:ext cx="9417542" cy="548717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ru-RU" dirty="0"/>
              <a:t>Матрица. Тестовое покрытие</a:t>
            </a:r>
            <a:endParaRPr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408088" y="6207647"/>
            <a:ext cx="4344386" cy="365125"/>
          </a:xfrm>
        </p:spPr>
        <p:txBody>
          <a:bodyPr/>
          <a:lstStyle/>
          <a:p>
            <a:pPr>
              <a:defRPr/>
            </a:pPr>
            <a:r>
              <a:rPr lang="ru-RU" dirty="0"/>
              <a:t>Матрица. Тестовое покрытие</a:t>
            </a:r>
            <a:endParaRPr lang="en-US" dirty="0"/>
          </a:p>
        </p:txBody>
      </p: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408088" y="737122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graphicFrame>
        <p:nvGraphicFramePr>
          <p:cNvPr id="8" name="Объект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39557819"/>
              </p:ext>
            </p:extLst>
          </p:nvPr>
        </p:nvGraphicFramePr>
        <p:xfrm>
          <a:off x="5422730" y="552672"/>
          <a:ext cx="5561437" cy="5654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73" name="Лист" r:id="rId3" imgW="7810399" imgH="8800946" progId="Excel.Sheet.12">
                  <p:embed/>
                </p:oleObj>
              </mc:Choice>
              <mc:Fallback>
                <p:oleObj name="Лист" r:id="rId3" imgW="7810399" imgH="8800946" progId="Excel.Sheet.12">
                  <p:embed/>
                  <p:pic>
                    <p:nvPicPr>
                      <p:cNvPr id="0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22730" y="552672"/>
                        <a:ext cx="5561437" cy="5654975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Рисунок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088" y="2480411"/>
            <a:ext cx="5014642" cy="1983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1328998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3AB6C55-58EA-40D4-AEDD-ACF6FA1FB47F}" type="slidenum">
              <a:rPr lang="en-US" sz="2000" smtClean="0"/>
              <a:t>13</a:t>
            </a:fld>
            <a:r>
              <a:rPr lang="ru-RU" sz="2000" dirty="0"/>
              <a:t> из 15</a:t>
            </a:r>
            <a:endParaRPr lang="en-US" sz="2000" dirty="0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 bwMode="auto">
          <a:xfrm>
            <a:off x="408088" y="366045"/>
            <a:ext cx="9417542" cy="548717"/>
          </a:xfrm>
        </p:spPr>
        <p:txBody>
          <a:bodyPr/>
          <a:lstStyle/>
          <a:p>
            <a:pPr>
              <a:defRPr/>
            </a:pPr>
            <a:r>
              <a:rPr lang="ru-RU" dirty="0"/>
              <a:t>Выводы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408088" y="6281799"/>
            <a:ext cx="4344386" cy="365125"/>
          </a:xfrm>
        </p:spPr>
        <p:txBody>
          <a:bodyPr/>
          <a:lstStyle/>
          <a:p>
            <a:pPr>
              <a:defRPr/>
            </a:pPr>
            <a:r>
              <a:rPr lang="ru-RU" dirty="0"/>
              <a:t>Выводы</a:t>
            </a:r>
          </a:p>
        </p:txBody>
      </p:sp>
      <p:sp>
        <p:nvSpPr>
          <p:cNvPr id="10" name="AutoShape 6" descr="Picture background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grpSp>
        <p:nvGrpSpPr>
          <p:cNvPr id="17" name="Группа 16"/>
          <p:cNvGrpSpPr/>
          <p:nvPr/>
        </p:nvGrpSpPr>
        <p:grpSpPr>
          <a:xfrm>
            <a:off x="1140030" y="964866"/>
            <a:ext cx="4927426" cy="2507928"/>
            <a:chOff x="1140030" y="964866"/>
            <a:chExt cx="4927426" cy="2507928"/>
          </a:xfrm>
        </p:grpSpPr>
        <p:pic>
          <p:nvPicPr>
            <p:cNvPr id="7" name="Google Shape;254;p25" descr="image.png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1140030" y="964866"/>
              <a:ext cx="4927426" cy="250792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" name="Прямоугольник 2"/>
            <p:cNvSpPr/>
            <p:nvPr/>
          </p:nvSpPr>
          <p:spPr>
            <a:xfrm>
              <a:off x="1291677" y="1864886"/>
              <a:ext cx="4624131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ru-RU" sz="2000" b="1" dirty="0"/>
                <a:t>Стадия готовности:</a:t>
              </a:r>
              <a:r>
                <a:rPr lang="ru-RU" sz="2000" dirty="0"/>
                <a:t> Разработан интерактивный </a:t>
              </a:r>
              <a:r>
                <a:rPr lang="ru-RU" sz="2000" dirty="0" err="1"/>
                <a:t>фронтенд</a:t>
              </a:r>
              <a:r>
                <a:rPr lang="ru-RU" sz="2000" dirty="0"/>
                <a:t>-прототип</a:t>
              </a:r>
            </a:p>
          </p:txBody>
        </p:sp>
      </p:grpSp>
      <p:grpSp>
        <p:nvGrpSpPr>
          <p:cNvPr id="18" name="Группа 17"/>
          <p:cNvGrpSpPr/>
          <p:nvPr/>
        </p:nvGrpSpPr>
        <p:grpSpPr>
          <a:xfrm>
            <a:off x="6146136" y="964866"/>
            <a:ext cx="5478922" cy="2508290"/>
            <a:chOff x="6146136" y="964866"/>
            <a:chExt cx="5478922" cy="2508290"/>
          </a:xfrm>
        </p:grpSpPr>
        <p:pic>
          <p:nvPicPr>
            <p:cNvPr id="9" name="Google Shape;254;p25" descr="image.png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6146136" y="964866"/>
              <a:ext cx="4927426" cy="250829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" name="Прямоугольник 7"/>
            <p:cNvSpPr/>
            <p:nvPr/>
          </p:nvSpPr>
          <p:spPr>
            <a:xfrm>
              <a:off x="6581244" y="1814448"/>
              <a:ext cx="5043814" cy="101566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ru-RU" sz="2000" b="1" dirty="0"/>
                <a:t>Что удалось:</a:t>
              </a:r>
              <a:r>
                <a:rPr lang="ru-RU" sz="2000" dirty="0"/>
                <a:t> Полностью спроектирован интерфейс, реализована адаптивность.</a:t>
              </a:r>
            </a:p>
          </p:txBody>
        </p:sp>
      </p:grpSp>
      <p:grpSp>
        <p:nvGrpSpPr>
          <p:cNvPr id="19" name="Группа 18"/>
          <p:cNvGrpSpPr/>
          <p:nvPr/>
        </p:nvGrpSpPr>
        <p:grpSpPr>
          <a:xfrm>
            <a:off x="1140029" y="3696107"/>
            <a:ext cx="4927426" cy="2528151"/>
            <a:chOff x="1140029" y="3696107"/>
            <a:chExt cx="4927426" cy="2528151"/>
          </a:xfrm>
        </p:grpSpPr>
        <p:pic>
          <p:nvPicPr>
            <p:cNvPr id="11" name="Google Shape;254;p25" descr="image.png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1140029" y="3696107"/>
              <a:ext cx="4927426" cy="252815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" name="Прямоугольник 13"/>
            <p:cNvSpPr/>
            <p:nvPr/>
          </p:nvSpPr>
          <p:spPr>
            <a:xfrm>
              <a:off x="1323681" y="4298462"/>
              <a:ext cx="4560121" cy="132343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ru-RU" sz="2000" b="1" dirty="0"/>
                <a:t>Что сделать по-другому: </a:t>
              </a:r>
              <a:r>
                <a:rPr lang="ru-RU" sz="2000" dirty="0"/>
                <a:t>На этапе проектирования создать интерактивные </a:t>
              </a:r>
              <a:r>
                <a:rPr lang="ru-RU" sz="2000" dirty="0" err="1"/>
                <a:t>кликабельные</a:t>
              </a:r>
              <a:r>
                <a:rPr lang="ru-RU" sz="2000" dirty="0"/>
                <a:t> прототипы (</a:t>
              </a:r>
              <a:r>
                <a:rPr lang="ru-RU" sz="2000" dirty="0" err="1"/>
                <a:t>Figma</a:t>
              </a:r>
              <a:r>
                <a:rPr lang="ru-RU" sz="2000" dirty="0"/>
                <a:t>)</a:t>
              </a:r>
            </a:p>
          </p:txBody>
        </p:sp>
      </p:grpSp>
      <p:grpSp>
        <p:nvGrpSpPr>
          <p:cNvPr id="20" name="Группа 19"/>
          <p:cNvGrpSpPr/>
          <p:nvPr/>
        </p:nvGrpSpPr>
        <p:grpSpPr>
          <a:xfrm>
            <a:off x="6146136" y="3703543"/>
            <a:ext cx="4927426" cy="2538090"/>
            <a:chOff x="6146136" y="3703543"/>
            <a:chExt cx="4927426" cy="2538090"/>
          </a:xfrm>
        </p:grpSpPr>
        <p:pic>
          <p:nvPicPr>
            <p:cNvPr id="15" name="Google Shape;254;p25" descr="image.png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6146136" y="3703543"/>
              <a:ext cx="4927426" cy="253809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Прямоугольник 15"/>
            <p:cNvSpPr/>
            <p:nvPr/>
          </p:nvSpPr>
          <p:spPr>
            <a:xfrm>
              <a:off x="6581244" y="4292299"/>
              <a:ext cx="4052511" cy="101566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ru-RU" sz="2000" b="1" dirty="0"/>
                <a:t>Перспективы:</a:t>
              </a:r>
              <a:r>
                <a:rPr lang="ru-RU" sz="2000" dirty="0"/>
                <a:t> Внедрение </a:t>
              </a:r>
              <a:r>
                <a:rPr lang="ru-RU" sz="2000" dirty="0" err="1"/>
                <a:t>Mock</a:t>
              </a:r>
              <a:r>
                <a:rPr lang="ru-RU" sz="2000" dirty="0"/>
                <a:t>-сервера.</a:t>
              </a:r>
              <a:r>
                <a:rPr lang="en-US" sz="2000" dirty="0"/>
                <a:t> </a:t>
              </a:r>
              <a:r>
                <a:rPr lang="ru-RU" sz="2000" dirty="0"/>
                <a:t>Разработка серверной логики и СУБД.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6855646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3AB6C55-58EA-40D4-AEDD-ACF6FA1FB47F}" type="slidenum">
              <a:rPr lang="en-US" sz="2000" smtClean="0"/>
              <a:t>14</a:t>
            </a:fld>
            <a:r>
              <a:rPr lang="ru-RU" sz="2000" dirty="0"/>
              <a:t> из 15</a:t>
            </a:r>
            <a:endParaRPr lang="en-US" sz="2000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408088" y="6207647"/>
            <a:ext cx="4344386" cy="365125"/>
          </a:xfrm>
        </p:spPr>
        <p:txBody>
          <a:bodyPr/>
          <a:lstStyle/>
          <a:p>
            <a:pPr>
              <a:defRPr/>
            </a:pPr>
            <a:r>
              <a:rPr lang="ru-RU" dirty="0"/>
              <a:t>Ссылки и </a:t>
            </a:r>
            <a:r>
              <a:rPr lang="en-US" dirty="0"/>
              <a:t>QR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Ссылки и </a:t>
            </a:r>
            <a:r>
              <a:rPr lang="en-US" dirty="0"/>
              <a:t>QR</a:t>
            </a:r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4134" y="1226916"/>
            <a:ext cx="3948621" cy="4606724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5891" y="1226188"/>
            <a:ext cx="3949245" cy="4607452"/>
          </a:xfrm>
          <a:prstGeom prst="rect">
            <a:avLst/>
          </a:prstGeom>
        </p:spPr>
      </p:pic>
      <p:sp>
        <p:nvSpPr>
          <p:cNvPr id="13" name="Прямоугольник 12"/>
          <p:cNvSpPr/>
          <p:nvPr/>
        </p:nvSpPr>
        <p:spPr>
          <a:xfrm>
            <a:off x="712796" y="763966"/>
            <a:ext cx="54312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https://github.com/dariaushkevitch/eventmatch</a:t>
            </a:r>
          </a:p>
        </p:txBody>
      </p:sp>
      <p:sp>
        <p:nvSpPr>
          <p:cNvPr id="14" name="Прямоугольник 13"/>
          <p:cNvSpPr/>
          <p:nvPr/>
        </p:nvSpPr>
        <p:spPr>
          <a:xfrm>
            <a:off x="5866528" y="5945721"/>
            <a:ext cx="52277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https://dariaushkevitch.github.io/eventmatch/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23858190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Box 25"/>
          <p:cNvSpPr txBox="1"/>
          <p:nvPr/>
        </p:nvSpPr>
        <p:spPr bwMode="auto">
          <a:xfrm>
            <a:off x="2367263" y="5921495"/>
            <a:ext cx="372873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600"/>
              <a:buFont typeface="Arial"/>
              <a:buNone/>
              <a:defRPr/>
            </a:pPr>
            <a:r>
              <a:rPr lang="ru-RU" sz="1600">
                <a:solidFill>
                  <a:schemeClr val="bg1"/>
                </a:solidFill>
                <a:latin typeface="Onest SemiBold"/>
                <a:cs typeface="Rubik SemiBold"/>
              </a:rPr>
              <a:t>УПРАВЛЕНИЕ ПО СВЯЗЯМ </a:t>
            </a:r>
            <a:r>
              <a:rPr lang="en-US" sz="1600">
                <a:solidFill>
                  <a:schemeClr val="bg1"/>
                </a:solidFill>
                <a:latin typeface="Onest SemiBold"/>
                <a:cs typeface="Rubik SemiBold"/>
              </a:rPr>
              <a:t/>
            </a:r>
            <a:br>
              <a:rPr lang="en-US" sz="1600">
                <a:solidFill>
                  <a:schemeClr val="bg1"/>
                </a:solidFill>
                <a:latin typeface="Onest SemiBold"/>
                <a:cs typeface="Rubik SemiBold"/>
              </a:rPr>
            </a:br>
            <a:r>
              <a:rPr lang="ru-RU" sz="1600">
                <a:solidFill>
                  <a:schemeClr val="bg1"/>
                </a:solidFill>
                <a:latin typeface="Onest SemiBold"/>
                <a:cs typeface="Rubik SemiBold"/>
              </a:rPr>
              <a:t>С ОБЩЕСТВЕННОСТЬЮ СПБПУ</a:t>
            </a:r>
            <a:endParaRPr/>
          </a:p>
        </p:txBody>
      </p:sp>
      <p:sp>
        <p:nvSpPr>
          <p:cNvPr id="7" name="Прямоугольник 6"/>
          <p:cNvSpPr/>
          <p:nvPr/>
        </p:nvSpPr>
        <p:spPr bwMode="auto">
          <a:xfrm>
            <a:off x="3943927" y="2395247"/>
            <a:ext cx="6952673" cy="3167350"/>
          </a:xfrm>
          <a:prstGeom prst="rect">
            <a:avLst/>
          </a:prstGeom>
          <a:gradFill>
            <a:gsLst>
              <a:gs pos="0">
                <a:srgbClr val="004C22"/>
              </a:gs>
              <a:gs pos="100000">
                <a:srgbClr val="32932D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8" name="Прямоугольник 7"/>
          <p:cNvSpPr/>
          <p:nvPr/>
        </p:nvSpPr>
        <p:spPr bwMode="auto">
          <a:xfrm rot="5400000">
            <a:off x="9771186" y="1125414"/>
            <a:ext cx="3546228" cy="1295401"/>
          </a:xfrm>
          <a:prstGeom prst="rect">
            <a:avLst/>
          </a:prstGeom>
          <a:gradFill>
            <a:gsLst>
              <a:gs pos="0">
                <a:srgbClr val="FC4921"/>
              </a:gs>
              <a:gs pos="100000">
                <a:srgbClr val="F29262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9" name="Прямоугольник 8"/>
          <p:cNvSpPr/>
          <p:nvPr/>
        </p:nvSpPr>
        <p:spPr bwMode="auto">
          <a:xfrm rot="10800000">
            <a:off x="0" y="5562597"/>
            <a:ext cx="6203950" cy="1295402"/>
          </a:xfrm>
          <a:prstGeom prst="rect">
            <a:avLst/>
          </a:prstGeom>
          <a:gradFill>
            <a:gsLst>
              <a:gs pos="0">
                <a:srgbClr val="3D2E69"/>
              </a:gs>
              <a:gs pos="100000">
                <a:srgbClr val="774395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1" name="TextBox 10"/>
          <p:cNvSpPr txBox="1"/>
          <p:nvPr/>
        </p:nvSpPr>
        <p:spPr bwMode="auto">
          <a:xfrm>
            <a:off x="4685690" y="2998819"/>
            <a:ext cx="6210908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4400" dirty="0">
                <a:solidFill>
                  <a:schemeClr val="bg1"/>
                </a:solidFill>
                <a:latin typeface="Onest Bold"/>
                <a:ea typeface="Rubik SemiBold"/>
                <a:cs typeface="Arial"/>
              </a:rPr>
              <a:t>Event Match – </a:t>
            </a:r>
            <a:r>
              <a:rPr lang="ru-RU" sz="4400" dirty="0">
                <a:solidFill>
                  <a:schemeClr val="bg1"/>
                </a:solidFill>
                <a:latin typeface="Onest Bold"/>
                <a:ea typeface="Rubik SemiBold"/>
                <a:cs typeface="Arial"/>
              </a:rPr>
              <a:t>программа моей мечты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 bwMode="auto">
          <a:xfrm>
            <a:off x="136581" y="5879937"/>
            <a:ext cx="618451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600"/>
              <a:defRPr/>
            </a:pPr>
            <a:r>
              <a:rPr lang="ru-RU" sz="2000" dirty="0">
                <a:solidFill>
                  <a:schemeClr val="bg1"/>
                </a:solidFill>
                <a:latin typeface="Onest SemiBold"/>
                <a:cs typeface="Rubik SemiBold"/>
              </a:rPr>
              <a:t>Ссылка на </a:t>
            </a:r>
            <a:r>
              <a:rPr lang="ru-RU" sz="2000" dirty="0" err="1">
                <a:solidFill>
                  <a:schemeClr val="bg1"/>
                </a:solidFill>
                <a:latin typeface="Onest SemiBold"/>
                <a:cs typeface="Rubik SemiBold"/>
              </a:rPr>
              <a:t>репозиторий</a:t>
            </a:r>
            <a:r>
              <a:rPr lang="ru-RU" sz="2000" dirty="0">
                <a:solidFill>
                  <a:schemeClr val="bg1"/>
                </a:solidFill>
                <a:latin typeface="Onest SemiBold"/>
                <a:cs typeface="Rubik SemiBold"/>
              </a:rPr>
              <a:t> </a:t>
            </a:r>
            <a:r>
              <a:rPr lang="en-US" sz="2000" dirty="0">
                <a:solidFill>
                  <a:schemeClr val="bg1"/>
                </a:solidFill>
                <a:latin typeface="Onest SemiBold"/>
                <a:cs typeface="Rubik SemiBold"/>
              </a:rPr>
              <a:t>GitHub</a:t>
            </a:r>
          </a:p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600"/>
              <a:defRPr/>
            </a:pPr>
            <a:r>
              <a:rPr lang="en-US" sz="2000" dirty="0">
                <a:solidFill>
                  <a:schemeClr val="bg1"/>
                </a:solidFill>
                <a:latin typeface="Onest SemiBold"/>
                <a:cs typeface="Rubik SemiBold"/>
              </a:rPr>
              <a:t>https://github.com/dariaushkevitch/eventmatch</a:t>
            </a:r>
          </a:p>
        </p:txBody>
      </p:sp>
      <p:sp>
        <p:nvSpPr>
          <p:cNvPr id="13" name="TextBox 12"/>
          <p:cNvSpPr txBox="1"/>
          <p:nvPr/>
        </p:nvSpPr>
        <p:spPr bwMode="auto">
          <a:xfrm>
            <a:off x="6438243" y="5726049"/>
            <a:ext cx="445835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600"/>
              <a:buFont typeface="Arial"/>
              <a:buNone/>
              <a:defRPr/>
            </a:pPr>
            <a:r>
              <a:rPr lang="ru-RU" sz="2000" dirty="0">
                <a:solidFill>
                  <a:srgbClr val="774395"/>
                </a:solidFill>
                <a:latin typeface="Onest Regular"/>
              </a:rPr>
              <a:t>Автор:</a:t>
            </a:r>
            <a:endParaRPr sz="2000" dirty="0">
              <a:solidFill>
                <a:srgbClr val="774395"/>
              </a:solidFill>
            </a:endParaRPr>
          </a:p>
          <a:p>
            <a:pPr marL="0" marR="0" lvl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600"/>
              <a:buFont typeface="Arial"/>
              <a:buNone/>
              <a:defRPr/>
            </a:pPr>
            <a:r>
              <a:rPr lang="ru-RU" sz="2000" b="1" dirty="0">
                <a:solidFill>
                  <a:srgbClr val="774395"/>
                </a:solidFill>
                <a:latin typeface="Onest SemiBold"/>
              </a:rPr>
              <a:t>Юшкевич Дарья Константиновна </a:t>
            </a:r>
          </a:p>
          <a:p>
            <a:pPr marL="0" marR="0" lvl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600"/>
              <a:buFont typeface="Arial"/>
              <a:buNone/>
              <a:defRPr/>
            </a:pPr>
            <a:r>
              <a:rPr lang="ru-RU" sz="2000" b="1" dirty="0">
                <a:solidFill>
                  <a:srgbClr val="774395"/>
                </a:solidFill>
                <a:latin typeface="Onest SemiBold"/>
              </a:rPr>
              <a:t>Студент группы 24290907/2091</a:t>
            </a:r>
            <a:endParaRPr sz="2000" dirty="0">
              <a:solidFill>
                <a:srgbClr val="774395"/>
              </a:solidFill>
            </a:endParaRPr>
          </a:p>
        </p:txBody>
      </p:sp>
      <p:sp>
        <p:nvSpPr>
          <p:cNvPr id="14" name="TextBox 13"/>
          <p:cNvSpPr txBox="1"/>
          <p:nvPr/>
        </p:nvSpPr>
        <p:spPr bwMode="auto">
          <a:xfrm>
            <a:off x="8863342" y="1933210"/>
            <a:ext cx="17689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/>
            </a:pPr>
            <a:r>
              <a:rPr lang="ru-RU">
                <a:solidFill>
                  <a:srgbClr val="369F31"/>
                </a:solidFill>
                <a:latin typeface="Onest SemiBold"/>
                <a:ea typeface="Rubik SemiBold"/>
                <a:cs typeface="Arial"/>
              </a:rPr>
              <a:t>2026</a:t>
            </a:r>
            <a:endParaRPr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696" y="-11310"/>
            <a:ext cx="4007720" cy="4675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6273527"/>
      </p:ext>
    </p:extLst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10.0.14393.0"/>
  <p:tag name="AS_RELEASE_DATE" val="2019.12.14"/>
  <p:tag name="AS_TITLE" val="Aspose.Slides for .NET 4.0 Client Profile"/>
  <p:tag name="AS_VERSION" val="19.12"/>
</p:tagLst>
</file>

<file path=ppt/theme/theme1.xml><?xml version="1.0" encoding="utf-8"?>
<a:theme xmlns:a="http://schemas.openxmlformats.org/drawingml/2006/main" name="Тема Office">
  <a:themeElements>
    <a:clrScheme name="Другая 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00B050"/>
      </a:accent6>
      <a:hlink>
        <a:srgbClr val="0563C1"/>
      </a:hlink>
      <a:folHlink>
        <a:srgbClr val="954F72"/>
      </a:folHlink>
    </a:clrScheme>
    <a:fontScheme name="Другая 2">
      <a:majorFont>
        <a:latin typeface="Onest SemiBold"/>
        <a:ea typeface="Arial"/>
        <a:cs typeface="Arial"/>
      </a:majorFont>
      <a:minorFont>
        <a:latin typeface="Onest Regular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Arial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Arial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1468</TotalTime>
  <Words>584</Words>
  <Application>Microsoft Office PowerPoint</Application>
  <PresentationFormat>Широкоэкранный</PresentationFormat>
  <Paragraphs>149</Paragraphs>
  <Slides>15</Slides>
  <Notes>5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11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2</vt:i4>
      </vt:variant>
      <vt:variant>
        <vt:lpstr>Заголовки слайдов</vt:lpstr>
      </vt:variant>
      <vt:variant>
        <vt:i4>15</vt:i4>
      </vt:variant>
    </vt:vector>
  </HeadingPairs>
  <TitlesOfParts>
    <vt:vector size="29" baseType="lpstr">
      <vt:lpstr>Onest SemiBold</vt:lpstr>
      <vt:lpstr>Lato</vt:lpstr>
      <vt:lpstr>Onest Regular</vt:lpstr>
      <vt:lpstr>Times New Roman</vt:lpstr>
      <vt:lpstr>Aptos</vt:lpstr>
      <vt:lpstr>Open Sans</vt:lpstr>
      <vt:lpstr>Calibri</vt:lpstr>
      <vt:lpstr>Onest Bold</vt:lpstr>
      <vt:lpstr>Arial</vt:lpstr>
      <vt:lpstr>Rubik SemiBold</vt:lpstr>
      <vt:lpstr>Montserrat</vt:lpstr>
      <vt:lpstr>Тема Office</vt:lpstr>
      <vt:lpstr>Visio</vt:lpstr>
      <vt:lpstr>Лист</vt:lpstr>
      <vt:lpstr>Презентация PowerPoint</vt:lpstr>
      <vt:lpstr>Предметная область и назначение</vt:lpstr>
      <vt:lpstr>Модель жизненного цикла. Таблица сравнения </vt:lpstr>
      <vt:lpstr>Итеративная модель жизненного цикла</vt:lpstr>
      <vt:lpstr>Графический интерфейс</vt:lpstr>
      <vt:lpstr>Принципы GUI</vt:lpstr>
      <vt:lpstr>Руководство оператора. ГОСТЫ </vt:lpstr>
      <vt:lpstr>Руководство оператора. Функционал. </vt:lpstr>
      <vt:lpstr>Руководство оператора. Ошибка - Решение</vt:lpstr>
      <vt:lpstr>Оценочные элементы (Метрики системы)</vt:lpstr>
      <vt:lpstr>Пример испытания</vt:lpstr>
      <vt:lpstr>Матрица. Тестовое покрытие</vt:lpstr>
      <vt:lpstr>Выводы</vt:lpstr>
      <vt:lpstr>Ссылки и QR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Дмитрий</dc:creator>
  <cp:lastModifiedBy>Дарья Юшкевич</cp:lastModifiedBy>
  <cp:revision>185</cp:revision>
  <dcterms:created xsi:type="dcterms:W3CDTF">2025-02-13T10:56:18Z</dcterms:created>
  <dcterms:modified xsi:type="dcterms:W3CDTF">2026-06-15T12:35:53Z</dcterms:modified>
</cp:coreProperties>
</file>