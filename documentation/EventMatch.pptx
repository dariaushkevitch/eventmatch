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svg" ContentType="image/sv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17"/>
  </p:notesMasterIdLst>
  <p:sldIdLst>
    <p:sldId id="259" r:id="rId2"/>
    <p:sldId id="262" r:id="rId3"/>
    <p:sldId id="288" r:id="rId4"/>
    <p:sldId id="291" r:id="rId5"/>
    <p:sldId id="289" r:id="rId6"/>
    <p:sldId id="290" r:id="rId7"/>
    <p:sldId id="271" r:id="rId8"/>
    <p:sldId id="279" r:id="rId9"/>
    <p:sldId id="280" r:id="rId10"/>
    <p:sldId id="277" r:id="rId11"/>
    <p:sldId id="286" r:id="rId12"/>
    <p:sldId id="275" r:id="rId13"/>
    <p:sldId id="276" r:id="rId14"/>
    <p:sldId id="285" r:id="rId15"/>
    <p:sldId id="292" r:id="rId16"/>
  </p:sldIdLst>
  <p:sldSz cx="12192000" cy="6858000"/>
  <p:notesSz cx="12192000" cy="6858000"/>
  <p:embeddedFontLst>
    <p:embeddedFont>
      <p:font typeface="Onest Regular" panose="020B0604020202020204" charset="-52"/>
      <p:regular r:id="rId18"/>
    </p:embeddedFont>
    <p:embeddedFont>
      <p:font typeface="Onest SemiBold" panose="020B0604020202020204" charset="0"/>
      <p:bold r:id="rId19"/>
    </p:embeddedFont>
    <p:embeddedFont>
      <p:font typeface="Onest Bold" panose="020B0604020202020204" charset="-52"/>
      <p:bold r:id="rId20"/>
    </p:embeddedFont>
  </p:embeddedFontLst>
  <p:custDataLst>
    <p:tags r:id="rId21"/>
  </p:custDataLst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8">
          <p15:clr>
            <a:srgbClr val="A4A3A4"/>
          </p15:clr>
        </p15:guide>
        <p15:guide id="2" pos="1323">
          <p15:clr>
            <a:srgbClr val="A4A3A4"/>
          </p15:clr>
        </p15:guide>
        <p15:guide id="3" pos="279">
          <p15:clr>
            <a:srgbClr val="A4A3A4"/>
          </p15:clr>
        </p15:guide>
        <p15:guide id="4" pos="7423">
          <p15:clr>
            <a:srgbClr val="A4A3A4"/>
          </p15:clr>
        </p15:guide>
        <p15:guide id="5" orient="horz" pos="4042">
          <p15:clr>
            <a:srgbClr val="A4A3A4"/>
          </p15:clr>
        </p15:guide>
        <p15:guide id="6" pos="892">
          <p15:clr>
            <a:srgbClr val="A4A3A4"/>
          </p15:clr>
        </p15:guide>
        <p15:guide id="7" pos="733">
          <p15:clr>
            <a:srgbClr val="A4A3A4"/>
          </p15:clr>
        </p15:guide>
        <p15:guide id="8" pos="2547">
          <p15:clr>
            <a:srgbClr val="A4A3A4"/>
          </p15:clr>
        </p15:guide>
        <p15:guide id="9" pos="2094">
          <p15:clr>
            <a:srgbClr val="A4A3A4"/>
          </p15:clr>
        </p15:guide>
        <p15:guide id="10" pos="2706">
          <p15:clr>
            <a:srgbClr val="A4A3A4"/>
          </p15:clr>
        </p15:guide>
        <p15:guide id="11" pos="3160">
          <p15:clr>
            <a:srgbClr val="A4A3A4"/>
          </p15:clr>
        </p15:guide>
        <p15:guide id="12" pos="3318">
          <p15:clr>
            <a:srgbClr val="A4A3A4"/>
          </p15:clr>
        </p15:guide>
        <p15:guide id="13" pos="1504">
          <p15:clr>
            <a:srgbClr val="A4A3A4"/>
          </p15:clr>
        </p15:guide>
        <p15:guide id="14" pos="1935">
          <p15:clr>
            <a:srgbClr val="A4A3A4"/>
          </p15:clr>
        </p15:guide>
        <p15:guide id="15" orient="horz" pos="663">
          <p15:clr>
            <a:srgbClr val="A4A3A4"/>
          </p15:clr>
        </p15:guide>
        <p15:guide id="16" pos="4362">
          <p15:clr>
            <a:srgbClr val="A4A3A4"/>
          </p15:clr>
        </p15:guide>
        <p15:guide id="17" pos="3931">
          <p15:clr>
            <a:srgbClr val="A4A3A4"/>
          </p15:clr>
        </p15:guide>
        <p15:guide id="18" pos="3772">
          <p15:clr>
            <a:srgbClr val="A4A3A4"/>
          </p15:clr>
        </p15:guide>
        <p15:guide id="19" pos="4974">
          <p15:clr>
            <a:srgbClr val="A4A3A4"/>
          </p15:clr>
        </p15:guide>
        <p15:guide id="20" pos="5133">
          <p15:clr>
            <a:srgbClr val="A4A3A4"/>
          </p15:clr>
        </p15:guide>
        <p15:guide id="21" pos="5586">
          <p15:clr>
            <a:srgbClr val="A4A3A4"/>
          </p15:clr>
        </p15:guide>
        <p15:guide id="22" pos="5745">
          <p15:clr>
            <a:srgbClr val="A4A3A4"/>
          </p15:clr>
        </p15:guide>
        <p15:guide id="23" pos="6199">
          <p15:clr>
            <a:srgbClr val="A4A3A4"/>
          </p15:clr>
        </p15:guide>
        <p15:guide id="24" pos="6357">
          <p15:clr>
            <a:srgbClr val="A4A3A4"/>
          </p15:clr>
        </p15:guide>
        <p15:guide id="25" pos="6788">
          <p15:clr>
            <a:srgbClr val="A4A3A4"/>
          </p15:clr>
        </p15:guide>
        <p15:guide id="26" pos="6970">
          <p15:clr>
            <a:srgbClr val="A4A3A4"/>
          </p15:clr>
        </p15:guide>
        <p15:guide id="27" pos="454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AA35"/>
    <a:srgbClr val="774395"/>
    <a:srgbClr val="DC4D2B"/>
    <a:srgbClr val="DB49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3492" autoAdjust="0"/>
  </p:normalViewPr>
  <p:slideViewPr>
    <p:cSldViewPr snapToGrid="0">
      <p:cViewPr varScale="1">
        <p:scale>
          <a:sx n="90" d="100"/>
          <a:sy n="90" d="100"/>
        </p:scale>
        <p:origin x="307" y="58"/>
      </p:cViewPr>
      <p:guideLst>
        <p:guide orient="horz" pos="278"/>
        <p:guide pos="1323"/>
        <p:guide pos="279"/>
        <p:guide pos="7423"/>
        <p:guide orient="horz" pos="4042"/>
        <p:guide pos="892"/>
        <p:guide pos="733"/>
        <p:guide pos="2547"/>
        <p:guide pos="2094"/>
        <p:guide pos="2706"/>
        <p:guide pos="3160"/>
        <p:guide pos="3318"/>
        <p:guide pos="1504"/>
        <p:guide pos="1935"/>
        <p:guide orient="horz" pos="663"/>
        <p:guide pos="4362"/>
        <p:guide pos="3931"/>
        <p:guide pos="3772"/>
        <p:guide pos="4974"/>
        <p:guide pos="5133"/>
        <p:guide pos="5586"/>
        <p:guide pos="5745"/>
        <p:guide pos="6199"/>
        <p:guide pos="6357"/>
        <p:guide pos="6788"/>
        <p:guide pos="6970"/>
        <p:guide pos="454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17C2F2-5216-4876-8679-87885D8BC4D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BD9AFA-4B82-47A6-B326-7C70E24BD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055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62838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2668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4875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338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BD9AFA-4B82-47A6-B326-7C70E24BD9B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9855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Научно-технологический потенциал</a:t>
            </a: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НАУЧНО-ТЕХНОЛОГИЧЕСКИЙ ПОТЕНЦИАЛ</a:t>
            </a: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ина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2"/>
          <a:srcRect b="15635"/>
          <a:stretch>
            <a:fillRect/>
          </a:stretch>
        </p:blipFill>
        <p:spPr bwMode="auto">
          <a:xfrm>
            <a:off x="0" y="-1"/>
            <a:ext cx="8401050" cy="6858001"/>
          </a:xfrm>
          <a:prstGeom prst="rect">
            <a:avLst/>
          </a:prstGeom>
        </p:spPr>
      </p:pic>
      <p:sp>
        <p:nvSpPr>
          <p:cNvPr id="18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485775" y="1327779"/>
            <a:ext cx="7662863" cy="1398775"/>
          </a:xfrm>
        </p:spPr>
        <p:txBody>
          <a:bodyPr anchor="t">
            <a:normAutofit/>
          </a:bodyPr>
          <a:lstStyle>
            <a:lvl1pPr algn="l">
              <a:defRPr sz="5400" b="0">
                <a:solidFill>
                  <a:schemeClr val="bg1"/>
                </a:solidFill>
                <a:latin typeface="Onest SemiBold"/>
              </a:defRPr>
            </a:lvl1pPr>
          </a:lstStyle>
          <a:p>
            <a:pPr>
              <a:lnSpc>
                <a:spcPct val="90000"/>
              </a:lnSpc>
              <a:defRPr/>
            </a:pPr>
            <a:r>
              <a:rPr lang="ru-RU" sz="5400">
                <a:solidFill>
                  <a:schemeClr val="bg1"/>
                </a:solidFill>
                <a:latin typeface="Onest SemiBold"/>
                <a:ea typeface="Rubik SemiBold"/>
                <a:cs typeface="Arial"/>
              </a:rPr>
              <a:t>БЛАГОДАРЮ </a:t>
            </a:r>
            <a:br>
              <a:rPr lang="ru-RU" sz="5400">
                <a:solidFill>
                  <a:schemeClr val="bg1"/>
                </a:solidFill>
                <a:latin typeface="Onest SemiBold"/>
                <a:ea typeface="Rubik SemiBold"/>
                <a:cs typeface="Arial"/>
              </a:rPr>
            </a:br>
            <a:r>
              <a:rPr lang="ru-RU" sz="5400">
                <a:solidFill>
                  <a:schemeClr val="bg1"/>
                </a:solidFill>
                <a:latin typeface="Onest SemiBold"/>
                <a:ea typeface="Rubik SemiBold"/>
                <a:cs typeface="Arial"/>
              </a:rPr>
              <a:t>ЗА ВНИМАНИЕ!</a:t>
            </a:r>
            <a:endParaRPr lang="en-US" sz="5400" i="0" u="none" strike="noStrike" cap="none">
              <a:solidFill>
                <a:schemeClr val="bg1"/>
              </a:solidFill>
              <a:latin typeface="Onest SemiBold"/>
              <a:ea typeface="Rubik SemiBold"/>
              <a:cs typeface="Arial"/>
            </a:endParaRP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0978286" y="443913"/>
            <a:ext cx="785043" cy="665795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3A2F82B-63BA-9218-190C-548C7866F6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0" y="3102429"/>
            <a:ext cx="6327321" cy="89807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нтент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9103151" y="6207648"/>
            <a:ext cx="2743200" cy="365125"/>
          </a:xfrm>
        </p:spPr>
        <p:txBody>
          <a:bodyPr anchor="ctr"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Onest Regular"/>
              </a:defRPr>
            </a:lvl1pPr>
          </a:lstStyle>
          <a:p>
            <a:pPr>
              <a:defRPr/>
            </a:pPr>
            <a:fld id="{63AB6C55-58EA-40D4-AEDD-ACF6FA1FB47F}" type="slidenum">
              <a:rPr lang="en-US"/>
              <a:t>‹#›</a:t>
            </a:fld>
            <a:endParaRPr lang="en-US"/>
          </a:p>
        </p:txBody>
      </p:sp>
      <p:sp>
        <p:nvSpPr>
          <p:cNvPr id="1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408088" y="366045"/>
            <a:ext cx="9417542" cy="1294625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400">
                <a:latin typeface="Onest SemiBold"/>
              </a:defRPr>
            </a:lvl1pPr>
          </a:lstStyle>
          <a:p>
            <a:pPr>
              <a:defRPr/>
            </a:pPr>
            <a:r>
              <a:rPr lang="ru-RU"/>
              <a:t>Заголовок слайда</a:t>
            </a:r>
            <a:endParaRPr lang="en-US"/>
          </a:p>
        </p:txBody>
      </p:sp>
      <p:sp>
        <p:nvSpPr>
          <p:cNvPr id="16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5597382" cy="365125"/>
          </a:xfrm>
        </p:spPr>
        <p:txBody>
          <a:bodyPr/>
          <a:lstStyle>
            <a:lvl1pPr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 lang="en-US"/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11208576" y="488301"/>
            <a:ext cx="554754" cy="470487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EA778C-FC86-4B16-F1EE-CD4DCAD5874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0" y="6728221"/>
            <a:ext cx="12192000" cy="129779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Научно-технологический потенциал</a:t>
            </a:r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НАУЧНО-ТЕХНОЛОГИЧЕСКИЙ ПОТЕНЦИАЛ</a:t>
            </a:r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3AB6C55-58EA-40D4-AEDD-ACF6FA1FB47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</p:sldLayoutIdLst>
  <p:transition/>
  <p:hf hdr="0"/>
  <p:txStyles>
    <p:titleStyle>
      <a:lvl1pPr algn="l" defTabSz="914400">
        <a:lnSpc>
          <a:spcPct val="90000"/>
        </a:lnSpc>
        <a:spcBef>
          <a:spcPct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0.png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/>
          <p:cNvSpPr txBox="1"/>
          <p:nvPr/>
        </p:nvSpPr>
        <p:spPr bwMode="auto">
          <a:xfrm>
            <a:off x="2367263" y="5921495"/>
            <a:ext cx="3728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УПРАВЛЕНИЕ ПО СВЯЗЯМ </a:t>
            </a:r>
            <a: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  <a:t/>
            </a:r>
            <a:b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</a:b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С ОБЩЕСТВЕННОСТЬЮ СПБПУ</a:t>
            </a:r>
            <a:endParaRPr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rcRect l="34559" t="1" b="9893"/>
          <a:stretch>
            <a:fillRect/>
          </a:stretch>
        </p:blipFill>
        <p:spPr bwMode="auto">
          <a:xfrm>
            <a:off x="0" y="1"/>
            <a:ext cx="4046899" cy="5597308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 bwMode="auto">
          <a:xfrm>
            <a:off x="4046018" y="2395247"/>
            <a:ext cx="6850582" cy="3167350"/>
          </a:xfrm>
          <a:prstGeom prst="rect">
            <a:avLst/>
          </a:prstGeom>
          <a:gradFill>
            <a:gsLst>
              <a:gs pos="0">
                <a:srgbClr val="004C22"/>
              </a:gs>
              <a:gs pos="100000">
                <a:srgbClr val="32932D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Прямоугольник 7"/>
          <p:cNvSpPr/>
          <p:nvPr/>
        </p:nvSpPr>
        <p:spPr bwMode="auto">
          <a:xfrm rot="5400000">
            <a:off x="9771186" y="1125414"/>
            <a:ext cx="3546228" cy="1295401"/>
          </a:xfrm>
          <a:prstGeom prst="rect">
            <a:avLst/>
          </a:prstGeom>
          <a:gradFill>
            <a:gsLst>
              <a:gs pos="0">
                <a:srgbClr val="FC4921"/>
              </a:gs>
              <a:gs pos="100000">
                <a:srgbClr val="F29262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Прямоугольник 8"/>
          <p:cNvSpPr/>
          <p:nvPr/>
        </p:nvSpPr>
        <p:spPr bwMode="auto">
          <a:xfrm rot="10800000">
            <a:off x="0" y="5562597"/>
            <a:ext cx="6203950" cy="1295402"/>
          </a:xfrm>
          <a:prstGeom prst="rect">
            <a:avLst/>
          </a:prstGeom>
          <a:gradFill>
            <a:gsLst>
              <a:gs pos="0">
                <a:srgbClr val="3D2E69"/>
              </a:gs>
              <a:gs pos="100000">
                <a:srgbClr val="774395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/>
          <p:cNvSpPr txBox="1"/>
          <p:nvPr/>
        </p:nvSpPr>
        <p:spPr bwMode="auto">
          <a:xfrm>
            <a:off x="4685690" y="2998819"/>
            <a:ext cx="621090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400" dirty="0" smtClean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Event Match – </a:t>
            </a:r>
            <a:r>
              <a:rPr lang="ru-RU" sz="4400" dirty="0" smtClean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программа моей мечты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 bwMode="auto">
          <a:xfrm>
            <a:off x="378330" y="5870469"/>
            <a:ext cx="61845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ru-RU" dirty="0" smtClean="0">
                <a:solidFill>
                  <a:schemeClr val="bg1"/>
                </a:solidFill>
                <a:latin typeface="Onest SemiBold"/>
                <a:cs typeface="Rubik SemiBold"/>
              </a:rPr>
              <a:t>Ссылка на </a:t>
            </a:r>
            <a:r>
              <a:rPr lang="ru-RU" dirty="0" err="1" smtClean="0">
                <a:solidFill>
                  <a:schemeClr val="bg1"/>
                </a:solidFill>
                <a:latin typeface="Onest SemiBold"/>
                <a:cs typeface="Rubik SemiBold"/>
              </a:rPr>
              <a:t>репозиторий</a:t>
            </a:r>
            <a:r>
              <a:rPr lang="ru-RU" dirty="0" smtClean="0">
                <a:solidFill>
                  <a:schemeClr val="bg1"/>
                </a:solidFill>
                <a:latin typeface="Onest SemiBold"/>
                <a:cs typeface="Rubik SemiBold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Onest SemiBold"/>
                <a:cs typeface="Rubik SemiBold"/>
              </a:rPr>
              <a:t>GitHub</a:t>
            </a:r>
          </a:p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en-US" dirty="0" smtClean="0">
                <a:solidFill>
                  <a:schemeClr val="bg1"/>
                </a:solidFill>
                <a:latin typeface="Onest SemiBold"/>
                <a:cs typeface="Rubik SemiBold"/>
              </a:rPr>
              <a:t>https</a:t>
            </a:r>
            <a:r>
              <a:rPr lang="en-US" dirty="0">
                <a:solidFill>
                  <a:schemeClr val="bg1"/>
                </a:solidFill>
                <a:latin typeface="Onest SemiBold"/>
                <a:cs typeface="Rubik SemiBold"/>
              </a:rPr>
              <a:t>://github.com/dariaushkevitch/eventmatch</a:t>
            </a:r>
            <a:endParaRPr lang="en-US" dirty="0" smtClean="0">
              <a:solidFill>
                <a:schemeClr val="bg1"/>
              </a:solidFill>
              <a:latin typeface="Onest SemiBold"/>
              <a:cs typeface="Rubik SemiBold"/>
            </a:endParaRPr>
          </a:p>
        </p:txBody>
      </p:sp>
      <p:sp>
        <p:nvSpPr>
          <p:cNvPr id="13" name="TextBox 12"/>
          <p:cNvSpPr txBox="1"/>
          <p:nvPr/>
        </p:nvSpPr>
        <p:spPr bwMode="auto">
          <a:xfrm>
            <a:off x="6442017" y="5877950"/>
            <a:ext cx="445835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dirty="0" smtClean="0">
                <a:solidFill>
                  <a:srgbClr val="774395"/>
                </a:solidFill>
                <a:latin typeface="Onest Regular"/>
              </a:rPr>
              <a:t>Автор:</a:t>
            </a:r>
            <a:endParaRPr dirty="0">
              <a:solidFill>
                <a:srgbClr val="774395"/>
              </a:solidFill>
            </a:endParaRP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b="1" dirty="0" smtClean="0">
                <a:solidFill>
                  <a:srgbClr val="774395"/>
                </a:solidFill>
                <a:latin typeface="Onest SemiBold"/>
              </a:rPr>
              <a:t>Юшкевич Дарья Константиновна </a:t>
            </a: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b="1" dirty="0" smtClean="0">
                <a:solidFill>
                  <a:srgbClr val="774395"/>
                </a:solidFill>
                <a:latin typeface="Onest SemiBold"/>
              </a:rPr>
              <a:t>Студент группы 24290907/2091</a:t>
            </a:r>
            <a:endParaRPr dirty="0">
              <a:solidFill>
                <a:srgbClr val="77439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 bwMode="auto">
          <a:xfrm>
            <a:off x="8863342" y="1933210"/>
            <a:ext cx="1768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ru-RU">
                <a:solidFill>
                  <a:srgbClr val="369F31"/>
                </a:solidFill>
                <a:latin typeface="Onest SemiBold"/>
                <a:ea typeface="Rubik SemiBold"/>
                <a:cs typeface="Arial"/>
              </a:rPr>
              <a:t>2026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500978" y="443915"/>
            <a:ext cx="669897" cy="56814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2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Предметная область и назначение</a:t>
            </a:r>
            <a:endParaRPr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 smtClean="0"/>
              <a:t>Предметная область и назначение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08088" y="914762"/>
            <a:ext cx="1080951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Платформа должна автоматизировать процесс поиска целевой аудитории (для организаторов) и релевантных мероприятий (для участников).</a:t>
            </a:r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r>
              <a:rPr lang="ru-RU" b="1" dirty="0" smtClean="0"/>
              <a:t>Безопасность</a:t>
            </a:r>
            <a:r>
              <a:rPr lang="ru-RU" b="1" dirty="0"/>
              <a:t>: </a:t>
            </a:r>
            <a:r>
              <a:rPr lang="ru-RU" dirty="0"/>
              <a:t>Защита от несанкционированного доступа и модификации данных, двухфакторная аутентификация. 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b="1" dirty="0"/>
              <a:t>Производительность:</a:t>
            </a:r>
            <a:r>
              <a:rPr lang="ru-RU" dirty="0"/>
              <a:t> </a:t>
            </a:r>
            <a:r>
              <a:rPr lang="ru-RU" dirty="0" smtClean="0"/>
              <a:t>Стабильная работа при </a:t>
            </a:r>
            <a:r>
              <a:rPr lang="ru-RU" dirty="0" smtClean="0"/>
              <a:t>5000 </a:t>
            </a:r>
            <a:r>
              <a:rPr lang="ru-RU" dirty="0" smtClean="0"/>
              <a:t>одновременных </a:t>
            </a:r>
            <a:r>
              <a:rPr lang="ru-RU" dirty="0"/>
              <a:t>пользователей. 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b="1" dirty="0" smtClean="0"/>
              <a:t>Срок исполнения: </a:t>
            </a:r>
            <a:r>
              <a:rPr lang="ru-RU" dirty="0" smtClean="0"/>
              <a:t>8 месяцев (сентябрь-май)</a:t>
            </a:r>
            <a:endParaRPr lang="ru-RU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 smtClean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3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Модель жизненного цикла. Таблица сравнения 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Модель жизненного цикла. Таблица сравнения</a:t>
            </a:r>
            <a:endParaRPr lang="ru-RU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465864"/>
              </p:ext>
            </p:extLst>
          </p:nvPr>
        </p:nvGraphicFramePr>
        <p:xfrm>
          <a:off x="846482" y="1283002"/>
          <a:ext cx="10150810" cy="42959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0162">
                  <a:extLst>
                    <a:ext uri="{9D8B030D-6E8A-4147-A177-3AD203B41FA5}">
                      <a16:colId xmlns:a16="http://schemas.microsoft.com/office/drawing/2014/main" val="934988493"/>
                    </a:ext>
                  </a:extLst>
                </a:gridCol>
                <a:gridCol w="2250527">
                  <a:extLst>
                    <a:ext uri="{9D8B030D-6E8A-4147-A177-3AD203B41FA5}">
                      <a16:colId xmlns:a16="http://schemas.microsoft.com/office/drawing/2014/main" val="2237844821"/>
                    </a:ext>
                  </a:extLst>
                </a:gridCol>
                <a:gridCol w="2318658">
                  <a:extLst>
                    <a:ext uri="{9D8B030D-6E8A-4147-A177-3AD203B41FA5}">
                      <a16:colId xmlns:a16="http://schemas.microsoft.com/office/drawing/2014/main" val="2033612984"/>
                    </a:ext>
                  </a:extLst>
                </a:gridCol>
                <a:gridCol w="1521301">
                  <a:extLst>
                    <a:ext uri="{9D8B030D-6E8A-4147-A177-3AD203B41FA5}">
                      <a16:colId xmlns:a16="http://schemas.microsoft.com/office/drawing/2014/main" val="2681326086"/>
                    </a:ext>
                  </a:extLst>
                </a:gridCol>
                <a:gridCol w="2030162">
                  <a:extLst>
                    <a:ext uri="{9D8B030D-6E8A-4147-A177-3AD203B41FA5}">
                      <a16:colId xmlns:a16="http://schemas.microsoft.com/office/drawing/2014/main" val="1748774724"/>
                    </a:ext>
                  </a:extLst>
                </a:gridCol>
              </a:tblGrid>
              <a:tr h="1020932"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Модель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latin typeface="+mn-lt"/>
                        </a:rPr>
                        <a:t>+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latin typeface="+mn-lt"/>
                        </a:rPr>
                        <a:t>-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latin typeface="+mn-lt"/>
                        </a:rPr>
                        <a:t>Соответствие сильным сторонам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latin typeface="+mn-lt"/>
                        </a:rPr>
                        <a:t>Решение слабых сторон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334277"/>
                  </a:ext>
                </a:extLst>
              </a:tr>
              <a:tr h="897536">
                <a:tc>
                  <a:txBody>
                    <a:bodyPr/>
                    <a:lstStyle/>
                    <a:p>
                      <a:pPr marL="6350" indent="-6350"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Водопадная </a:t>
                      </a:r>
                    </a:p>
                  </a:txBody>
                  <a:tcPr marL="60325" marR="25400" marT="175260" marB="26670"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Четкость этапов, лёгкость контролирования сроков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Нет гибкости к изменениям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✓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(не решает </a:t>
                      </a:r>
                      <a:r>
                        <a:rPr lang="ru-RU" sz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проблему производительности и интеграции сложных элементов)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64677"/>
                  </a:ext>
                </a:extLst>
              </a:tr>
              <a:tr h="897536"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Итеративная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Постепенное улучшение продукта, раннее выявление недостатков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Возможно</a:t>
                      </a:r>
                      <a:r>
                        <a:rPr lang="ru-RU" sz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увеличение стоимости проекта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✓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Повышение</a:t>
                      </a:r>
                      <a:r>
                        <a:rPr lang="ru-RU" sz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производительности и устойчивость к высоким </a:t>
                      </a:r>
                    </a:p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нагрузкам. </a:t>
                      </a:r>
                    </a:p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Решение проблем интеграции сложных компонентов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845600"/>
                  </a:ext>
                </a:extLst>
              </a:tr>
              <a:tr h="897536"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V-образная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Раннее выявление дефектов, надежность продукта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Затруднения с </a:t>
                      </a:r>
                    </a:p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внесением изменений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✓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(затягивает </a:t>
                      </a:r>
                    </a:p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процесс, усложняет внесение </a:t>
                      </a:r>
                    </a:p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изменений 	в </a:t>
                      </a:r>
                    </a:p>
                    <a:p>
                      <a:r>
                        <a:rPr lang="ru-RU" sz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требованиях) </a:t>
                      </a:r>
                      <a:endParaRPr lang="ru-RU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627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231199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4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Итеративная модель жизненного цикла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Итеративная модель жизненного цикла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408087" y="914762"/>
            <a:ext cx="108790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Выбор итеративной (спиральной) модели обусловлен необходимостью минимизировать высокие риски неопределенности в технической реализации сложных элементов, таких как чат поддержки, и потребностью поэтапной проверки системы под нагрузкой 5000+ пользователей.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08087" y="1991544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 smtClean="0">
                <a:solidFill>
                  <a:srgbClr val="000000"/>
                </a:solidFill>
                <a:ea typeface="Times New Roman" panose="02020603050405020304" pitchFamily="18" charset="0"/>
              </a:rPr>
              <a:t>Виды </a:t>
            </a:r>
            <a:r>
              <a:rPr lang="ru-RU" dirty="0"/>
              <a:t>деятельности были объединены в 5 основных этапов жизненного цикла проекта </a:t>
            </a:r>
            <a:r>
              <a:rPr lang="ru-RU" dirty="0" err="1"/>
              <a:t>EventMatch</a:t>
            </a:r>
            <a:r>
              <a:rPr lang="ru-RU" dirty="0"/>
              <a:t>: </a:t>
            </a:r>
            <a:endParaRPr lang="ru-RU" dirty="0" smtClean="0">
              <a:solidFill>
                <a:srgbClr val="000000"/>
              </a:solidFill>
              <a:ea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ea typeface="Times New Roman" panose="02020603050405020304" pitchFamily="18" charset="0"/>
              </a:rPr>
              <a:t>Этап </a:t>
            </a:r>
            <a:r>
              <a:rPr lang="ru-RU" dirty="0">
                <a:solidFill>
                  <a:srgbClr val="000000"/>
                </a:solidFill>
                <a:ea typeface="Times New Roman" panose="02020603050405020304" pitchFamily="18" charset="0"/>
              </a:rPr>
              <a:t>1: Инициация и планирование </a:t>
            </a:r>
            <a:endParaRPr lang="ru-RU" dirty="0" smtClean="0">
              <a:solidFill>
                <a:srgbClr val="000000"/>
              </a:solidFill>
              <a:ea typeface="Times New Roman" panose="02020603050405020304" pitchFamily="18" charset="0"/>
            </a:endParaRPr>
          </a:p>
          <a:p>
            <a:r>
              <a:rPr lang="ru-RU" dirty="0"/>
              <a:t>Этап 2: Анализ и проектирование </a:t>
            </a:r>
            <a:endParaRPr lang="ru-RU" dirty="0" smtClean="0"/>
          </a:p>
          <a:p>
            <a:r>
              <a:rPr lang="ru-RU" dirty="0"/>
              <a:t>Этап 3: Разработка и итерации  </a:t>
            </a:r>
          </a:p>
          <a:p>
            <a:r>
              <a:rPr lang="ru-RU" dirty="0"/>
              <a:t>Этап 4: Тестирование и </a:t>
            </a:r>
            <a:r>
              <a:rPr lang="ru-RU" dirty="0" err="1"/>
              <a:t>валидация</a:t>
            </a:r>
            <a:r>
              <a:rPr lang="ru-RU" dirty="0"/>
              <a:t>  </a:t>
            </a:r>
          </a:p>
          <a:p>
            <a:r>
              <a:rPr lang="ru-RU" dirty="0"/>
              <a:t>Этап 5: Внедрение и сопровождение  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372100" y="2561905"/>
            <a:ext cx="6096000" cy="3955955"/>
          </a:xfrm>
          <a:prstGeom prst="rect">
            <a:avLst/>
          </a:prstGeom>
        </p:spPr>
        <p:txBody>
          <a:bodyPr>
            <a:spAutoFit/>
          </a:bodyPr>
          <a:lstStyle/>
          <a:p>
            <a:pPr marL="6350" marR="80010" indent="-6350" algn="just">
              <a:lnSpc>
                <a:spcPct val="112000"/>
              </a:lnSpc>
              <a:spcAft>
                <a:spcPts val="685"/>
              </a:spcAft>
            </a:pPr>
            <a:r>
              <a:rPr lang="ru-RU" dirty="0">
                <a:solidFill>
                  <a:srgbClr val="000000"/>
                </a:solidFill>
                <a:ea typeface="Times New Roman" panose="02020603050405020304" pitchFamily="18" charset="0"/>
              </a:rPr>
              <a:t>Каждый спринт включает все 5 этапов в мини-формате:  </a:t>
            </a:r>
          </a:p>
          <a:p>
            <a:pPr marL="342900" marR="80010" lvl="0" indent="-342900" algn="just" fontAlgn="base">
              <a:lnSpc>
                <a:spcPct val="112000"/>
              </a:lnSpc>
              <a:spcAft>
                <a:spcPts val="65"/>
              </a:spcAft>
              <a:buClr>
                <a:srgbClr val="000000"/>
              </a:buClr>
              <a:buSzPts val="1300"/>
              <a:buFont typeface="Arial" panose="020B0604020202020204" pitchFamily="34" charset="0"/>
              <a:buChar char="●"/>
            </a:pPr>
            <a:r>
              <a:rPr lang="ru-RU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Планирование - определение целей спринта и распределение задач  </a:t>
            </a:r>
          </a:p>
          <a:p>
            <a:pPr marL="342900" marR="80010" lvl="0" indent="-342900" algn="just" fontAlgn="base">
              <a:lnSpc>
                <a:spcPct val="112000"/>
              </a:lnSpc>
              <a:spcAft>
                <a:spcPts val="65"/>
              </a:spcAft>
              <a:buClr>
                <a:srgbClr val="000000"/>
              </a:buClr>
              <a:buSzPts val="1300"/>
              <a:buFont typeface="Arial" panose="020B0604020202020204" pitchFamily="34" charset="0"/>
              <a:buChar char="●"/>
            </a:pPr>
            <a:r>
              <a:rPr lang="ru-RU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Анализ - детализация требований для конкретного функционала  </a:t>
            </a:r>
          </a:p>
          <a:p>
            <a:pPr marL="342900" marR="80010" lvl="0" indent="-342900" algn="just" fontAlgn="base">
              <a:lnSpc>
                <a:spcPct val="112000"/>
              </a:lnSpc>
              <a:spcAft>
                <a:spcPts val="65"/>
              </a:spcAft>
              <a:buClr>
                <a:srgbClr val="000000"/>
              </a:buClr>
              <a:buSzPts val="1300"/>
              <a:buFont typeface="Arial" panose="020B0604020202020204" pitchFamily="34" charset="0"/>
              <a:buChar char="●"/>
            </a:pPr>
            <a:r>
              <a:rPr lang="ru-RU" dirty="0" smtClean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Разработка -реализация </a:t>
            </a:r>
            <a:r>
              <a:rPr lang="ru-RU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запланированного функционала  </a:t>
            </a:r>
          </a:p>
          <a:p>
            <a:pPr marL="342900" marR="80010" lvl="0" indent="-342900" algn="just" fontAlgn="base">
              <a:lnSpc>
                <a:spcPct val="112000"/>
              </a:lnSpc>
              <a:spcAft>
                <a:spcPts val="65"/>
              </a:spcAft>
              <a:buClr>
                <a:srgbClr val="000000"/>
              </a:buClr>
              <a:buSzPts val="1300"/>
              <a:buFont typeface="Arial" panose="020B0604020202020204" pitchFamily="34" charset="0"/>
              <a:buChar char="●"/>
            </a:pPr>
            <a:r>
              <a:rPr lang="ru-RU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Тестирование - проверка качества и соответствия требованиям  </a:t>
            </a:r>
          </a:p>
          <a:p>
            <a:pPr marL="342900" marR="80010" lvl="0" indent="-342900" algn="just" fontAlgn="base">
              <a:lnSpc>
                <a:spcPct val="112000"/>
              </a:lnSpc>
              <a:spcAft>
                <a:spcPts val="65"/>
              </a:spcAft>
              <a:buClr>
                <a:srgbClr val="000000"/>
              </a:buClr>
              <a:buSzPts val="1300"/>
              <a:buFont typeface="Arial" panose="020B0604020202020204" pitchFamily="34" charset="0"/>
              <a:buChar char="●"/>
            </a:pPr>
            <a:r>
              <a:rPr lang="ru-RU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Внедрение - интеграция в общую систему и подготовка к демонстрации </a:t>
            </a:r>
            <a:r>
              <a:rPr lang="ru-RU" b="1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dirty="0">
              <a:solidFill>
                <a:srgbClr val="000000"/>
              </a:solidFill>
              <a:uFill>
                <a:solidFill>
                  <a:srgbClr val="000000"/>
                </a:solidFill>
              </a:uFill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86061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5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Графический интерфейс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Графический интерфейс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08088" y="929715"/>
            <a:ext cx="947886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Части предметной области (ключевые разделы платформы):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Публичная часть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Личный кабинет участника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Личный кабинет организатора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Обратная </a:t>
            </a:r>
            <a:r>
              <a:rPr lang="ru-RU" dirty="0" smtClean="0"/>
              <a:t>связь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b="1" dirty="0"/>
              <a:t>Уровни доступа: </a:t>
            </a:r>
            <a:r>
              <a:rPr lang="ru-RU" dirty="0" err="1"/>
              <a:t>Public</a:t>
            </a:r>
            <a:r>
              <a:rPr lang="ru-RU" dirty="0"/>
              <a:t>, </a:t>
            </a:r>
            <a:r>
              <a:rPr lang="ru-RU" dirty="0" err="1"/>
              <a:t>Guest</a:t>
            </a:r>
            <a:r>
              <a:rPr lang="ru-RU" dirty="0"/>
              <a:t>, </a:t>
            </a:r>
            <a:r>
              <a:rPr lang="ru-RU" dirty="0" err="1"/>
              <a:t>Super</a:t>
            </a:r>
            <a:r>
              <a:rPr lang="ru-RU" dirty="0"/>
              <a:t> </a:t>
            </a:r>
            <a:r>
              <a:rPr lang="ru-RU" dirty="0" err="1"/>
              <a:t>Users</a:t>
            </a:r>
            <a:r>
              <a:rPr lang="ru-RU" dirty="0"/>
              <a:t> (администраторы/модераторы).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850621" y="3238038"/>
            <a:ext cx="17161530" cy="480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1" name="Рисунок 10"/>
          <p:cNvPicPr/>
          <p:nvPr/>
        </p:nvPicPr>
        <p:blipFill>
          <a:blip r:embed="rId2"/>
          <a:stretch>
            <a:fillRect/>
          </a:stretch>
        </p:blipFill>
        <p:spPr>
          <a:xfrm>
            <a:off x="408089" y="3532909"/>
            <a:ext cx="3041694" cy="1986731"/>
          </a:xfrm>
          <a:prstGeom prst="rect">
            <a:avLst/>
          </a:prstGeom>
        </p:spPr>
      </p:pic>
      <p:pic>
        <p:nvPicPr>
          <p:cNvPr id="12" name="Рисунок 11"/>
          <p:cNvPicPr/>
          <p:nvPr/>
        </p:nvPicPr>
        <p:blipFill>
          <a:blip r:embed="rId3"/>
          <a:stretch>
            <a:fillRect/>
          </a:stretch>
        </p:blipFill>
        <p:spPr>
          <a:xfrm>
            <a:off x="3970057" y="3536934"/>
            <a:ext cx="3615171" cy="1986480"/>
          </a:xfrm>
          <a:prstGeom prst="rect">
            <a:avLst/>
          </a:prstGeom>
        </p:spPr>
      </p:pic>
      <p:pic>
        <p:nvPicPr>
          <p:cNvPr id="13" name="Рисунок 12"/>
          <p:cNvPicPr/>
          <p:nvPr/>
        </p:nvPicPr>
        <p:blipFill>
          <a:blip r:embed="rId4"/>
          <a:stretch>
            <a:fillRect/>
          </a:stretch>
        </p:blipFill>
        <p:spPr>
          <a:xfrm>
            <a:off x="8079699" y="3532909"/>
            <a:ext cx="3766652" cy="198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57627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6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Графический интерфейс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Графический интерфейс</a:t>
            </a:r>
            <a:endParaRPr lang="ru-RU" dirty="0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3050735" y="363028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408088" y="887529"/>
            <a:ext cx="1153626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/>
              <a:t>Принципы </a:t>
            </a:r>
            <a:r>
              <a:rPr lang="en-US" b="1" dirty="0" smtClean="0"/>
              <a:t>GUI:</a:t>
            </a:r>
          </a:p>
          <a:p>
            <a:pPr marL="342900" indent="-342900">
              <a:buFont typeface="+mj-lt"/>
              <a:buAutoNum type="arabicParenR"/>
            </a:pPr>
            <a:r>
              <a:rPr lang="ru-RU" dirty="0" smtClean="0"/>
              <a:t>Простота</a:t>
            </a:r>
          </a:p>
          <a:p>
            <a:r>
              <a:rPr lang="ru-RU" dirty="0" smtClean="0"/>
              <a:t>Созданный </a:t>
            </a:r>
            <a:r>
              <a:rPr lang="ru-RU" dirty="0"/>
              <a:t>на основе сценария макет «Создать с помощью ИИ Маски запроса» содержит все функции, поддерживающие описанные потребности пользователя. Соответственно, данный макет продемонстрировал использование принципа видимости, поскольку в нём были учтены возможные потребности пользователя.</a:t>
            </a:r>
          </a:p>
          <a:p>
            <a:pPr marL="342900" indent="-342900">
              <a:buFont typeface="+mj-lt"/>
              <a:buAutoNum type="arabicParenR"/>
            </a:pPr>
            <a:endParaRPr lang="ru-RU" dirty="0" smtClean="0"/>
          </a:p>
          <a:p>
            <a:r>
              <a:rPr lang="ru-RU" dirty="0" smtClean="0"/>
              <a:t>2)   Видимость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Одна из самый частых функций, которую используют пользователи – «Просмотреть событий мероприятий» (2 в ранжированном списке</a:t>
            </a:r>
            <a:r>
              <a:rPr lang="ru-RU" dirty="0" smtClean="0"/>
              <a:t>) 3 итерации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Одна из самых редко используемых функций – «Обратная связь» (10 в ранжированном списке</a:t>
            </a:r>
            <a:r>
              <a:rPr lang="ru-RU" dirty="0" smtClean="0"/>
              <a:t>) более 3-х итераций</a:t>
            </a:r>
            <a:endParaRPr lang="ru-RU" dirty="0"/>
          </a:p>
          <a:p>
            <a:endParaRPr lang="ru-RU" dirty="0"/>
          </a:p>
          <a:p>
            <a:pPr marL="342900" indent="-342900">
              <a:buFont typeface="+mj-lt"/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4265472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7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dirty="0"/>
              <a:t>Руководство оператора</a:t>
            </a:r>
            <a:r>
              <a:rPr lang="ru-RU" dirty="0" smtClean="0"/>
              <a:t>. ГОСТЫ</a:t>
            </a:r>
            <a:r>
              <a:rPr lang="ru-RU" dirty="0"/>
              <a:t/>
            </a:r>
            <a:br>
              <a:rPr lang="ru-RU" dirty="0"/>
            </a:br>
            <a:endParaRPr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 smtClean="0"/>
              <a:t>Руководство оператора. ГОСТЫ</a:t>
            </a:r>
            <a:endParaRPr lang="en-US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08088" y="1055358"/>
            <a:ext cx="115267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Документ составлен по ГОСТ</a:t>
            </a:r>
            <a:r>
              <a:rPr lang="ru-RU" b="1" dirty="0"/>
              <a:t> 19.505-79</a:t>
            </a:r>
            <a:r>
              <a:rPr lang="ru-RU" dirty="0"/>
              <a:t>, который определяет структуру Руководства оператора, а оформлен в соответствии с ГОСТ</a:t>
            </a:r>
            <a:r>
              <a:rPr lang="ru-RU" b="1" dirty="0"/>
              <a:t> 19.104-78</a:t>
            </a:r>
            <a:r>
              <a:rPr lang="ru-RU" dirty="0"/>
              <a:t> для основных надписей и листов утверждения, а также ГОСТ</a:t>
            </a:r>
            <a:r>
              <a:rPr lang="ru-RU" b="1" dirty="0"/>
              <a:t> </a:t>
            </a:r>
            <a:r>
              <a:rPr lang="ru-RU" b="1" dirty="0" smtClean="0"/>
              <a:t>19.106-78</a:t>
            </a:r>
            <a:r>
              <a:rPr lang="ru-RU" dirty="0" smtClean="0"/>
              <a:t> </a:t>
            </a:r>
            <a:r>
              <a:rPr lang="ru-RU" dirty="0"/>
              <a:t>для общих требований к </a:t>
            </a:r>
            <a:r>
              <a:rPr lang="ru-RU" dirty="0" smtClean="0"/>
              <a:t>печатным документам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08088" y="2960156"/>
            <a:ext cx="113648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ГОСТ 19.505-79</a:t>
            </a:r>
            <a:r>
              <a:rPr lang="ru-RU" dirty="0"/>
              <a:t> (Руководство оператора. Требования к содержанию и оформлению): https://www.swrit.ru/doc/espd/19.505-79.pdf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08088" y="3674169"/>
            <a:ext cx="700087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ГОСТ 19.104-78</a:t>
            </a:r>
            <a:r>
              <a:rPr lang="ru-RU" dirty="0"/>
              <a:t> (Основные надписи): https://www.swrit.ru/doc/espd/19.104-78.pdf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08088" y="4347248"/>
            <a:ext cx="1028700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ГОСТ 19.106-78</a:t>
            </a:r>
            <a:r>
              <a:rPr lang="ru-RU" dirty="0"/>
              <a:t> (Требования к печатным документам</a:t>
            </a:r>
            <a:r>
              <a:rPr lang="ru-RU" dirty="0" smtClean="0"/>
              <a:t>):</a:t>
            </a:r>
            <a:r>
              <a:rPr lang="ru-RU" dirty="0"/>
              <a:t> </a:t>
            </a:r>
            <a:r>
              <a:rPr lang="ru-RU" dirty="0" smtClean="0"/>
              <a:t>https</a:t>
            </a:r>
            <a:r>
              <a:rPr lang="ru-RU" dirty="0"/>
              <a:t>://www.swrit.ru/doc/espd/19.106-78.pdf</a:t>
            </a:r>
          </a:p>
        </p:txBody>
      </p:sp>
    </p:spTree>
    <p:extLst>
      <p:ext uri="{BB962C8B-B14F-4D97-AF65-F5344CB8AC3E}">
        <p14:creationId xmlns:p14="http://schemas.microsoft.com/office/powerpoint/2010/main" val="231500690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8</a:t>
            </a:fld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Руководство оператора. Функционал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Руководство оператора. </a:t>
            </a:r>
            <a:r>
              <a:rPr lang="ru-RU" dirty="0"/>
              <a:t>Ф</a:t>
            </a:r>
            <a:r>
              <a:rPr lang="ru-RU" dirty="0" smtClean="0"/>
              <a:t>ункционал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08088" y="823218"/>
            <a:ext cx="52870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В </a:t>
            </a:r>
            <a:r>
              <a:rPr lang="ru-RU" dirty="0"/>
              <a:t>документ вынесен следующий </a:t>
            </a:r>
            <a:r>
              <a:rPr lang="ru-RU" dirty="0" smtClean="0"/>
              <a:t>функционал:</a:t>
            </a:r>
          </a:p>
          <a:p>
            <a:endParaRPr lang="ru-RU" dirty="0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 rot="10800000" flipV="1">
            <a:off x="408088" y="1146385"/>
            <a:ext cx="11646355" cy="5309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Вход в систему и активация функций: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Авторизация в системе с использованием корпоративного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Email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и заранее выданного администратором секретного пароля. </a:t>
            </a: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Переход в панель модератора и активация расширенных функций управления контентом (после чего на главной странице появляются кнопки редактирования).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719138" algn="l"/>
                <a:tab pos="1343025" algn="l"/>
              </a:tabLst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2.  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Модерация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профилей новых пользователей: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Ручная проверка имен и фотографий вновь зарегистрированных пользователей. </a:t>
            </a: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Удаление профилей нарушителей с обязательным указанием текстовой причины удаления в системе.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719138" algn="l"/>
                <a:tab pos="1343025" algn="l"/>
              </a:tabLst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3.  Контроль и редактирование обновленных профилей: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Ручная проверка измененных пользователями имен. </a:t>
            </a: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Сброс некорректных данных через функцию «Редактировать профиль» — принудительное возвращение прежнего имени (с указанием причины) или удаление ненадлежащей фотографии.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719138" algn="l"/>
                <a:tab pos="1343025" algn="l"/>
              </a:tabLst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4.  Обработка заявок на публикацию мероприятий: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Просмотр и ручная проверка поступающих от пользователей карточек мероприятий. </a:t>
            </a: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Принятие решения по публикации — одобрение заявки (вывод события в общую ленту) или её отклонение.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719138" algn="l"/>
                <a:tab pos="1343025" algn="l"/>
              </a:tabLst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5.  Безопасный выход из системы: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47675" marR="0" lvl="0" indent="-2730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19138" algn="l"/>
                <a:tab pos="1343025" algn="l"/>
              </a:tabLst>
            </a:pP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Деавторизация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через диалоговое окно подтверждения выхода и закрытие рабочей сессии.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7685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9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Руководство оператора. </a:t>
            </a:r>
            <a:r>
              <a:rPr lang="ru-RU" dirty="0"/>
              <a:t>Ошибка </a:t>
            </a:r>
            <a:r>
              <a:rPr lang="ru-RU" dirty="0" smtClean="0"/>
              <a:t>- </a:t>
            </a:r>
            <a:r>
              <a:rPr lang="ru-RU" dirty="0"/>
              <a:t>Решение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Руководство оператора. Ошибка - Решение</a:t>
            </a:r>
            <a:endParaRPr lang="ru-RU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408088" y="920532"/>
            <a:ext cx="10877979" cy="5586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60363" marR="0" lvl="0" indent="-3603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1. Попытка случайного или несанкционированного выхода</a:t>
            </a:r>
          </a:p>
          <a:p>
            <a:pPr marL="460375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Ошибка: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Оператор ошибочно нажимает кнопку выхода («Выйти») во время работы, что грозит потерей данных текущей сессии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модерации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  <a:p>
            <a:pPr marL="460375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Решение: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Система перехватывает действие и вызывает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валидационное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окно: </a:t>
            </a:r>
            <a:r>
              <a:rPr kumimoji="0" lang="ru-RU" altLang="ru-RU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«Вы действительно хотите выйти?»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 При выборе «Нет» сессия сохраняется, при выборе «Да» происходит безопасный сброс авторизации. </a:t>
            </a:r>
            <a:endParaRPr kumimoji="0" lang="ru-RU" altLang="ru-RU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60363" marR="0" lvl="0" indent="-3603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2. Публикация недопустимого контента (мероприятия)</a:t>
            </a:r>
          </a:p>
          <a:p>
            <a:pPr marL="460375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Ошибка: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Пользователь отправляет на платформу заявку на мероприятие, нарушающее правила сервиса или оформленное некорректно. </a:t>
            </a:r>
          </a:p>
          <a:p>
            <a:pPr marL="460375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Решение: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Оператор вручную проверяет карточку в панели заявок и нажимает «Отклонить». Система блокирует публикацию и выводит уведомление </a:t>
            </a:r>
            <a:r>
              <a:rPr kumimoji="0" lang="ru-RU" altLang="ru-RU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«Заявка отклонена»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, защищая общую ленту сайта. </a:t>
            </a:r>
            <a:endParaRPr kumimoji="0" lang="ru-RU" altLang="ru-RU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60363" marR="0" lvl="0" indent="-3603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3. Некорректные данные в профиле пользователя</a:t>
            </a:r>
          </a:p>
          <a:p>
            <a:pPr marL="460375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Ошибка: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Пользователь обновил свой профиль, установив нецензурное имя или недопустимую фотографию. </a:t>
            </a:r>
          </a:p>
          <a:p>
            <a:pPr marL="460375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Решение: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Оператор через панель управления активирует функцию редактирования профиля. Система предлагает пошаговые инструменты: при нажатии </a:t>
            </a:r>
            <a:r>
              <a:rPr kumimoji="0" lang="ru-RU" altLang="ru-RU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«Вернуть имя»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данные принудительно откатываются с фиксацией причины, а при нажатии </a:t>
            </a:r>
            <a:r>
              <a:rPr kumimoji="0" lang="ru-RU" altLang="ru-RU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«Удалить фотографию»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аватар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полностью стирается.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6287560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10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Оценочные элементы (Метрики системы)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Оценочные элементы (Метрики системы)</a:t>
            </a:r>
            <a:endParaRPr lang="ru-RU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76654" y="914762"/>
            <a:ext cx="6041689" cy="48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476654" y="963364"/>
            <a:ext cx="1049614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Надежность: Восстановление сервера ≤30 мин; </a:t>
            </a:r>
            <a:r>
              <a:rPr lang="ru-RU" dirty="0" err="1"/>
              <a:t>бэкап</a:t>
            </a:r>
            <a:r>
              <a:rPr lang="ru-RU" dirty="0"/>
              <a:t> (заявки, профили артистов, чаты) каждые 60 мин; автопроверка целостности БД, ЛК Организатора и Участника</a:t>
            </a:r>
            <a:r>
              <a:rPr lang="ru-RU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Удобство </a:t>
            </a:r>
            <a:r>
              <a:rPr lang="ru-RU" dirty="0"/>
              <a:t>использования: Главный экран: вход/регистрация, поиск, ЛК, чат поддержки; запись за 4 шага (главная → выбор → страница → кнопка); карточки событий (афиша, название, инфо). 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Производительность</a:t>
            </a:r>
            <a:r>
              <a:rPr lang="ru-RU" dirty="0"/>
              <a:t>: Отклик сервера 200–400 </a:t>
            </a:r>
            <a:r>
              <a:rPr lang="ru-RU" dirty="0" err="1"/>
              <a:t>мс</a:t>
            </a:r>
            <a:r>
              <a:rPr lang="ru-RU" dirty="0"/>
              <a:t> при 5000 юзеров; поиск «Ищу...» </a:t>
            </a:r>
            <a:r>
              <a:rPr lang="ru-RU" dirty="0" smtClean="0"/>
              <a:t>до 1 </a:t>
            </a:r>
            <a:r>
              <a:rPr lang="ru-RU" dirty="0"/>
              <a:t>сек; </a:t>
            </a:r>
            <a:r>
              <a:rPr lang="ru-RU" dirty="0" smtClean="0"/>
              <a:t>нагрузка потребления оперативной памяти, </a:t>
            </a:r>
            <a:r>
              <a:rPr lang="ru-RU" dirty="0" err="1" smtClean="0"/>
              <a:t>процецессора</a:t>
            </a:r>
            <a:r>
              <a:rPr lang="ru-RU" dirty="0" smtClean="0"/>
              <a:t> на сервере не превышает 75</a:t>
            </a:r>
            <a:r>
              <a:rPr lang="ru-RU" dirty="0"/>
              <a:t>% на максимуме. Удобство сопровождения: Авто-</a:t>
            </a:r>
            <a:r>
              <a:rPr lang="ru-RU" dirty="0" err="1"/>
              <a:t>smoke</a:t>
            </a:r>
            <a:r>
              <a:rPr lang="ru-RU" dirty="0"/>
              <a:t>/регрессия в разных окружениях с </a:t>
            </a:r>
            <a:r>
              <a:rPr lang="ru-RU" dirty="0" smtClean="0"/>
              <a:t>отчетами; единый стиль кода; </a:t>
            </a:r>
            <a:r>
              <a:rPr lang="ru-RU" dirty="0"/>
              <a:t>автооткат </a:t>
            </a:r>
            <a:r>
              <a:rPr lang="ru-RU" dirty="0" smtClean="0"/>
              <a:t>к </a:t>
            </a:r>
            <a:r>
              <a:rPr lang="ru-RU" dirty="0"/>
              <a:t>рабочей копии при поломке любой функции. 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Переносимость</a:t>
            </a:r>
            <a:r>
              <a:rPr lang="ru-RU" dirty="0"/>
              <a:t>: </a:t>
            </a:r>
            <a:r>
              <a:rPr lang="ru-RU" dirty="0" smtClean="0"/>
              <a:t>Адаптивность </a:t>
            </a:r>
            <a:r>
              <a:rPr lang="ru-RU" dirty="0"/>
              <a:t>под 6 браузеров и 7 экранов (375–3840px); установка: 12 мин, 6 шагов, 0–2 ошибки, ≥90% успеха с 1 раза, настройка БД ≤5 мин; кнопки шапки неизменны после </a:t>
            </a:r>
            <a:r>
              <a:rPr lang="ru-RU" dirty="0" smtClean="0"/>
              <a:t>обновлений.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Функциональность</a:t>
            </a:r>
            <a:r>
              <a:rPr lang="ru-RU" dirty="0"/>
              <a:t>: Контроль покрытия по матрице трассировки (RTM); разделение прав по ролям (RBAC); </a:t>
            </a:r>
            <a:r>
              <a:rPr lang="ru-RU" dirty="0" err="1"/>
              <a:t>хэш</a:t>
            </a:r>
            <a:r>
              <a:rPr lang="ru-RU" dirty="0"/>
              <a:t> </a:t>
            </a:r>
            <a:r>
              <a:rPr lang="ru-RU" dirty="0" smtClean="0"/>
              <a:t>паролей.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689051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11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Пример испытания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Пример испытания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032" y="2081036"/>
            <a:ext cx="6056931" cy="37336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8088" y="764718"/>
            <a:ext cx="115567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ru-RU" dirty="0" smtClean="0"/>
              <a:t>Написание требований</a:t>
            </a:r>
          </a:p>
          <a:p>
            <a:pPr marL="342900" indent="-342900">
              <a:buAutoNum type="arabicPeriod"/>
            </a:pPr>
            <a:r>
              <a:rPr lang="ru-RU" dirty="0" smtClean="0"/>
              <a:t>Таблица допустимых и недопустимых заполнений</a:t>
            </a:r>
            <a:endParaRPr lang="ru-RU" dirty="0"/>
          </a:p>
          <a:p>
            <a:r>
              <a:rPr lang="ru-RU" dirty="0" err="1" smtClean="0"/>
              <a:t>Использованиие</a:t>
            </a:r>
            <a:r>
              <a:rPr lang="ru-RU" dirty="0" smtClean="0"/>
              <a:t> эквивалентного разделения, анализа граничных значений, предугадывания ошибок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" y="2086721"/>
            <a:ext cx="4870873" cy="3771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3691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12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dirty="0" smtClean="0"/>
              <a:t>Матрица. Тестовое покрытие</a:t>
            </a:r>
            <a:endParaRPr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Матрица. Тестовое покрытие</a:t>
            </a:r>
            <a:endParaRPr lang="en-US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408088" y="73712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8" name="Объект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75730470"/>
              </p:ext>
            </p:extLst>
          </p:nvPr>
        </p:nvGraphicFramePr>
        <p:xfrm>
          <a:off x="5524097" y="656633"/>
          <a:ext cx="5633897" cy="57286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29" name="Лист" r:id="rId3" imgW="7810399" imgH="8800946" progId="Excel.Sheet.12">
                  <p:embed/>
                </p:oleObj>
              </mc:Choice>
              <mc:Fallback>
                <p:oleObj name="Лист" r:id="rId3" imgW="7810399" imgH="8800946" progId="Excel.Sheet.12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4097" y="656633"/>
                        <a:ext cx="5633897" cy="572865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088" y="2480411"/>
            <a:ext cx="5014642" cy="198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2899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13</a:t>
            </a:fld>
            <a:endParaRPr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 bwMode="auto">
          <a:xfrm>
            <a:off x="408088" y="366045"/>
            <a:ext cx="9417542" cy="548717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10" name="AutoShape 6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460375" y="960121"/>
            <a:ext cx="8445661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Стадия готовности:</a:t>
            </a:r>
            <a:r>
              <a:rPr lang="ru-RU" dirty="0"/>
              <a:t> Разработан интерактивный </a:t>
            </a:r>
            <a:r>
              <a:rPr lang="ru-RU" dirty="0" err="1"/>
              <a:t>фронтенд</a:t>
            </a:r>
            <a:r>
              <a:rPr lang="ru-RU" dirty="0"/>
              <a:t>-прототип (клиентская часть). Верстка, кнопки и диалоговые окна полностью </a:t>
            </a:r>
            <a:r>
              <a:rPr lang="ru-RU" dirty="0" err="1"/>
              <a:t>кликабельны</a:t>
            </a:r>
            <a:r>
              <a:rPr lang="ru-RU" dirty="0"/>
              <a:t> и имитируют реальные сценарии</a:t>
            </a:r>
            <a:r>
              <a:rPr lang="ru-RU" dirty="0" smtClean="0"/>
              <a:t>.</a:t>
            </a:r>
          </a:p>
          <a:p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/>
              <a:t>Что </a:t>
            </a:r>
            <a:r>
              <a:rPr lang="ru-RU" b="1" dirty="0"/>
              <a:t>удалось:</a:t>
            </a:r>
            <a:r>
              <a:rPr lang="ru-RU" dirty="0"/>
              <a:t> Полностью спроектирован UI/UX интерфейс, реализована адаптивность, проведена </a:t>
            </a:r>
            <a:r>
              <a:rPr lang="ru-RU" dirty="0" err="1"/>
              <a:t>валидация</a:t>
            </a:r>
            <a:r>
              <a:rPr lang="ru-RU" dirty="0"/>
              <a:t> полей формы и тест-дизайн в системе </a:t>
            </a:r>
            <a:r>
              <a:rPr lang="ru-RU" dirty="0" err="1"/>
              <a:t>Test</a:t>
            </a:r>
            <a:r>
              <a:rPr lang="ru-RU" dirty="0"/>
              <a:t> </a:t>
            </a:r>
            <a:r>
              <a:rPr lang="ru-RU" dirty="0" smtClean="0"/>
              <a:t>IT.</a:t>
            </a:r>
          </a:p>
          <a:p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/>
              <a:t>Что </a:t>
            </a:r>
            <a:r>
              <a:rPr lang="ru-RU" b="1" dirty="0"/>
              <a:t>сделать по-другому:</a:t>
            </a:r>
            <a:r>
              <a:rPr lang="ru-RU" dirty="0"/>
              <a:t> Использовать </a:t>
            </a:r>
            <a:r>
              <a:rPr lang="ru-RU" dirty="0" err="1"/>
              <a:t>Mock</a:t>
            </a:r>
            <a:r>
              <a:rPr lang="ru-RU" dirty="0"/>
              <a:t>-сервер на ранних этапах для симуляции ответов базы данных при кликах на кнопки, пока пишется реальный </a:t>
            </a:r>
            <a:r>
              <a:rPr lang="ru-RU" dirty="0" err="1" smtClean="0"/>
              <a:t>бэкенд</a:t>
            </a:r>
            <a:r>
              <a:rPr lang="ru-RU" dirty="0" smtClean="0"/>
              <a:t>.</a:t>
            </a:r>
          </a:p>
          <a:p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/>
              <a:t>Перспективы</a:t>
            </a:r>
            <a:r>
              <a:rPr lang="ru-RU" b="1" dirty="0"/>
              <a:t>:</a:t>
            </a:r>
            <a:r>
              <a:rPr lang="ru-RU" dirty="0"/>
              <a:t> Разработка серверной логики и СУБД, интеграция </a:t>
            </a:r>
            <a:r>
              <a:rPr lang="ru-RU" dirty="0" err="1"/>
              <a:t>бэкенда</a:t>
            </a:r>
            <a:r>
              <a:rPr lang="ru-RU" dirty="0"/>
              <a:t> с готовым интерфейсом и проведение сквозного интеграционного тестирования.</a:t>
            </a:r>
          </a:p>
        </p:txBody>
      </p:sp>
    </p:spTree>
    <p:extLst>
      <p:ext uri="{BB962C8B-B14F-4D97-AF65-F5344CB8AC3E}">
        <p14:creationId xmlns:p14="http://schemas.microsoft.com/office/powerpoint/2010/main" val="46855646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3AB6C55-58EA-40D4-AEDD-ACF6FA1FB47F}" type="slidenum">
              <a:rPr lang="en-US"/>
              <a:t>14</a:t>
            </a:fld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408088" y="6207647"/>
            <a:ext cx="4344386" cy="365125"/>
          </a:xfrm>
        </p:spPr>
        <p:txBody>
          <a:bodyPr/>
          <a:lstStyle/>
          <a:p>
            <a:pPr>
              <a:defRPr/>
            </a:pPr>
            <a:r>
              <a:rPr lang="ru-RU" dirty="0" smtClean="0"/>
              <a:t>Ссылки и </a:t>
            </a:r>
            <a:r>
              <a:rPr lang="en-US" dirty="0" smtClean="0"/>
              <a:t>QR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Ссылки и </a:t>
            </a:r>
            <a:r>
              <a:rPr lang="en-US" dirty="0" smtClean="0"/>
              <a:t>QR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4134" y="1226916"/>
            <a:ext cx="3948621" cy="4606724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891" y="1226188"/>
            <a:ext cx="3949245" cy="4607452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12796" y="763966"/>
            <a:ext cx="54312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https://github.com/dariaushkevitch/eventmatch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5866528" y="6020877"/>
            <a:ext cx="52277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https://dariaushkevitch.github.io/eventmatch/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38581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/>
          <p:cNvSpPr txBox="1"/>
          <p:nvPr/>
        </p:nvSpPr>
        <p:spPr bwMode="auto">
          <a:xfrm>
            <a:off x="2367263" y="5921495"/>
            <a:ext cx="3728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УПРАВЛЕНИЕ ПО СВЯЗЯМ </a:t>
            </a:r>
            <a: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  <a:t/>
            </a:r>
            <a:br>
              <a:rPr lang="en-US" sz="1600">
                <a:solidFill>
                  <a:schemeClr val="bg1"/>
                </a:solidFill>
                <a:latin typeface="Onest SemiBold"/>
                <a:cs typeface="Rubik SemiBold"/>
              </a:rPr>
            </a:br>
            <a:r>
              <a:rPr lang="ru-RU" sz="1600">
                <a:solidFill>
                  <a:schemeClr val="bg1"/>
                </a:solidFill>
                <a:latin typeface="Onest SemiBold"/>
                <a:cs typeface="Rubik SemiBold"/>
              </a:rPr>
              <a:t>С ОБЩЕСТВЕННОСТЬЮ СПБПУ</a:t>
            </a:r>
            <a:endParaRPr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rcRect l="34559" t="1" b="9893"/>
          <a:stretch>
            <a:fillRect/>
          </a:stretch>
        </p:blipFill>
        <p:spPr bwMode="auto">
          <a:xfrm>
            <a:off x="0" y="1"/>
            <a:ext cx="4046899" cy="5597308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 bwMode="auto">
          <a:xfrm>
            <a:off x="4046018" y="2395247"/>
            <a:ext cx="6850582" cy="3167350"/>
          </a:xfrm>
          <a:prstGeom prst="rect">
            <a:avLst/>
          </a:prstGeom>
          <a:gradFill>
            <a:gsLst>
              <a:gs pos="0">
                <a:srgbClr val="004C22"/>
              </a:gs>
              <a:gs pos="100000">
                <a:srgbClr val="32932D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Прямоугольник 7"/>
          <p:cNvSpPr/>
          <p:nvPr/>
        </p:nvSpPr>
        <p:spPr bwMode="auto">
          <a:xfrm rot="5400000">
            <a:off x="9771186" y="1125414"/>
            <a:ext cx="3546228" cy="1295401"/>
          </a:xfrm>
          <a:prstGeom prst="rect">
            <a:avLst/>
          </a:prstGeom>
          <a:gradFill>
            <a:gsLst>
              <a:gs pos="0">
                <a:srgbClr val="FC4921"/>
              </a:gs>
              <a:gs pos="100000">
                <a:srgbClr val="F29262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Прямоугольник 8"/>
          <p:cNvSpPr/>
          <p:nvPr/>
        </p:nvSpPr>
        <p:spPr bwMode="auto">
          <a:xfrm rot="10800000">
            <a:off x="0" y="5562597"/>
            <a:ext cx="6203950" cy="1295402"/>
          </a:xfrm>
          <a:prstGeom prst="rect">
            <a:avLst/>
          </a:prstGeom>
          <a:gradFill>
            <a:gsLst>
              <a:gs pos="0">
                <a:srgbClr val="3D2E69"/>
              </a:gs>
              <a:gs pos="100000">
                <a:srgbClr val="774395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/>
          <p:cNvSpPr txBox="1"/>
          <p:nvPr/>
        </p:nvSpPr>
        <p:spPr bwMode="auto">
          <a:xfrm>
            <a:off x="4685690" y="2998819"/>
            <a:ext cx="621090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400" dirty="0" smtClean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Event Match – </a:t>
            </a:r>
            <a:r>
              <a:rPr lang="ru-RU" sz="4400" dirty="0" smtClean="0">
                <a:solidFill>
                  <a:schemeClr val="bg1"/>
                </a:solidFill>
                <a:latin typeface="Onest Bold"/>
                <a:ea typeface="Rubik SemiBold"/>
                <a:cs typeface="Arial"/>
              </a:rPr>
              <a:t>программа моей мечты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 bwMode="auto">
          <a:xfrm>
            <a:off x="378329" y="5870469"/>
            <a:ext cx="55016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ru-RU" dirty="0" smtClean="0">
                <a:solidFill>
                  <a:schemeClr val="bg1"/>
                </a:solidFill>
                <a:latin typeface="Onest SemiBold"/>
                <a:cs typeface="Rubik SemiBold"/>
              </a:rPr>
              <a:t>Ссылка на </a:t>
            </a:r>
            <a:r>
              <a:rPr lang="ru-RU" dirty="0" err="1" smtClean="0">
                <a:solidFill>
                  <a:schemeClr val="bg1"/>
                </a:solidFill>
                <a:latin typeface="Onest SemiBold"/>
                <a:cs typeface="Rubik SemiBold"/>
              </a:rPr>
              <a:t>репозиторий</a:t>
            </a:r>
            <a:r>
              <a:rPr lang="ru-RU" dirty="0" smtClean="0">
                <a:solidFill>
                  <a:schemeClr val="bg1"/>
                </a:solidFill>
                <a:latin typeface="Onest SemiBold"/>
                <a:cs typeface="Rubik SemiBold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Onest SemiBold"/>
                <a:cs typeface="Rubik SemiBold"/>
              </a:rPr>
              <a:t>GitHub</a:t>
            </a:r>
            <a:r>
              <a:rPr lang="ru-RU" dirty="0">
                <a:solidFill>
                  <a:schemeClr val="bg1"/>
                </a:solidFill>
                <a:latin typeface="Onest SemiBold"/>
                <a:cs typeface="Rubik SemiBold"/>
              </a:rPr>
              <a:t>:</a:t>
            </a:r>
            <a:endParaRPr lang="ru-RU" dirty="0" smtClean="0">
              <a:solidFill>
                <a:schemeClr val="bg1"/>
              </a:solidFill>
              <a:latin typeface="Onest SemiBold"/>
              <a:cs typeface="Rubik SemiBold"/>
            </a:endParaRPr>
          </a:p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defRPr/>
            </a:pPr>
            <a:r>
              <a:rPr lang="en-US" dirty="0" smtClean="0">
                <a:solidFill>
                  <a:schemeClr val="bg1"/>
                </a:solidFill>
                <a:latin typeface="Onest SemiBold"/>
                <a:cs typeface="Rubik SemiBold"/>
              </a:rPr>
              <a:t>https://github.com/dariaushkevitch/eventmatch</a:t>
            </a:r>
          </a:p>
        </p:txBody>
      </p:sp>
      <p:sp>
        <p:nvSpPr>
          <p:cNvPr id="13" name="TextBox 12"/>
          <p:cNvSpPr txBox="1"/>
          <p:nvPr/>
        </p:nvSpPr>
        <p:spPr bwMode="auto">
          <a:xfrm>
            <a:off x="6442017" y="5877950"/>
            <a:ext cx="445835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dirty="0" smtClean="0">
                <a:solidFill>
                  <a:srgbClr val="774395"/>
                </a:solidFill>
                <a:latin typeface="Onest Regular"/>
              </a:rPr>
              <a:t>Автор:</a:t>
            </a:r>
            <a:endParaRPr dirty="0">
              <a:solidFill>
                <a:srgbClr val="774395"/>
              </a:solidFill>
            </a:endParaRP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b="1" dirty="0" smtClean="0">
                <a:solidFill>
                  <a:srgbClr val="774395"/>
                </a:solidFill>
                <a:latin typeface="Onest SemiBold"/>
              </a:rPr>
              <a:t>Юшкевич Дарья Константиновна </a:t>
            </a:r>
          </a:p>
          <a:p>
            <a:pPr marL="0" marR="0" lv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600"/>
              <a:buFont typeface="Arial"/>
              <a:buNone/>
              <a:defRPr/>
            </a:pPr>
            <a:r>
              <a:rPr lang="ru-RU" b="1" dirty="0" smtClean="0">
                <a:solidFill>
                  <a:srgbClr val="774395"/>
                </a:solidFill>
                <a:latin typeface="Onest SemiBold"/>
              </a:rPr>
              <a:t>Студент группы 24290907/2091</a:t>
            </a:r>
            <a:endParaRPr dirty="0">
              <a:solidFill>
                <a:srgbClr val="77439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 bwMode="auto">
          <a:xfrm>
            <a:off x="8863342" y="1933210"/>
            <a:ext cx="1768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ru-RU">
                <a:solidFill>
                  <a:srgbClr val="369F31"/>
                </a:solidFill>
                <a:latin typeface="Onest SemiBold"/>
                <a:ea typeface="Rubik SemiBold"/>
                <a:cs typeface="Arial"/>
              </a:rPr>
              <a:t>2026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500978" y="443915"/>
            <a:ext cx="669897" cy="56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6943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4393.0"/>
  <p:tag name="AS_RELEASE_DATE" val="2019.12.14"/>
  <p:tag name="AS_TITLE" val="Aspose.Slides for .NET 4.0 Client Profile"/>
  <p:tag name="AS_VERSION" val="19.12"/>
</p:tagLst>
</file>

<file path=ppt/theme/theme1.xml><?xml version="1.0" encoding="utf-8"?>
<a:theme xmlns:a="http://schemas.openxmlformats.org/drawingml/2006/main" name="Тема Office">
  <a:themeElements>
    <a:clrScheme name="Другая 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00B050"/>
      </a:accent6>
      <a:hlink>
        <a:srgbClr val="0563C1"/>
      </a:hlink>
      <a:folHlink>
        <a:srgbClr val="954F72"/>
      </a:folHlink>
    </a:clrScheme>
    <a:fontScheme name="Другая 2">
      <a:majorFont>
        <a:latin typeface="Onest SemiBold"/>
        <a:ea typeface="Arial"/>
        <a:cs typeface="Arial"/>
      </a:majorFont>
      <a:minorFont>
        <a:latin typeface="Onest Regular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</TotalTime>
  <Words>1248</Words>
  <Application>Microsoft Office PowerPoint</Application>
  <PresentationFormat>Широкоэкранный</PresentationFormat>
  <Paragraphs>171</Paragraphs>
  <Slides>15</Slides>
  <Notes>5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5" baseType="lpstr">
      <vt:lpstr>Onest Regular</vt:lpstr>
      <vt:lpstr>Rubik SemiBold</vt:lpstr>
      <vt:lpstr>Google Sans Text</vt:lpstr>
      <vt:lpstr>Onest SemiBold</vt:lpstr>
      <vt:lpstr>Onest Bold</vt:lpstr>
      <vt:lpstr>Aptos</vt:lpstr>
      <vt:lpstr>Arial</vt:lpstr>
      <vt:lpstr>Times New Roman</vt:lpstr>
      <vt:lpstr>Тема Office</vt:lpstr>
      <vt:lpstr>Лист</vt:lpstr>
      <vt:lpstr>Презентация PowerPoint</vt:lpstr>
      <vt:lpstr>Предметная область и назначение</vt:lpstr>
      <vt:lpstr>Модель жизненного цикла. Таблица сравнения </vt:lpstr>
      <vt:lpstr>Итеративная модель жизненного цикла</vt:lpstr>
      <vt:lpstr>Графический интерфейс</vt:lpstr>
      <vt:lpstr>Графический интерфейс</vt:lpstr>
      <vt:lpstr>Руководство оператора. ГОСТЫ </vt:lpstr>
      <vt:lpstr>Руководство оператора. Функционал</vt:lpstr>
      <vt:lpstr>Руководство оператора. Ошибка - Решение</vt:lpstr>
      <vt:lpstr>Оценочные элементы (Метрики системы)</vt:lpstr>
      <vt:lpstr>Пример испытания</vt:lpstr>
      <vt:lpstr>Матрица. Тестовое покрытие</vt:lpstr>
      <vt:lpstr>Выводы</vt:lpstr>
      <vt:lpstr>Ссылки и QR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</dc:creator>
  <cp:lastModifiedBy>Дарья Юшкевич</cp:lastModifiedBy>
  <cp:revision>159</cp:revision>
  <dcterms:created xsi:type="dcterms:W3CDTF">2025-02-13T10:56:18Z</dcterms:created>
  <dcterms:modified xsi:type="dcterms:W3CDTF">2026-06-14T15:42:48Z</dcterms:modified>
</cp:coreProperties>
</file>