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7" r:id="rId8"/>
    <p:sldId id="262" r:id="rId9"/>
    <p:sldId id="264" r:id="rId10"/>
    <p:sldId id="265" r:id="rId11"/>
    <p:sldId id="270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54A53-92C9-487F-B2BA-751C43528EFF}" v="17" dt="2025-10-19T23:23:50.220"/>
    <p1510:client id="{22F0CB60-6AB2-4324-B680-776544B7380E}" v="1271" dt="2025-10-19T17:30:01.127"/>
    <p1510:client id="{B0505DDA-B3BA-4BAD-B1E7-719DF34FDA36}" v="318" dt="2025-10-20T20:34:15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20.10.2025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16"/>
            <a:ext cx="12191990" cy="68571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79298" y="4979593"/>
            <a:ext cx="7013868" cy="1464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200" dirty="0" err="1">
                <a:latin typeface="Times New Roman"/>
                <a:cs typeface="Times New Roman"/>
              </a:rPr>
              <a:t>Жежу</a:t>
            </a:r>
            <a:r>
              <a:rPr lang="en-US" sz="1200" dirty="0">
                <a:latin typeface="Times New Roman"/>
                <a:cs typeface="Times New Roman"/>
              </a:rPr>
              <a:t> А.</a:t>
            </a:r>
            <a:endParaRPr lang="ru-RU" sz="1200" dirty="0">
              <a:latin typeface="Times New Roman"/>
              <a:cs typeface="Times New Roman"/>
            </a:endParaRP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Пулукчу</a:t>
            </a:r>
            <a:r>
              <a:rPr lang="en-US" sz="1200" dirty="0">
                <a:latin typeface="Times New Roman"/>
                <a:cs typeface="Times New Roman"/>
              </a:rPr>
              <a:t> П.</a:t>
            </a: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Шатурина</a:t>
            </a:r>
            <a:r>
              <a:rPr lang="en-US" sz="1200" dirty="0">
                <a:latin typeface="Times New Roman"/>
                <a:cs typeface="Times New Roman"/>
              </a:rPr>
              <a:t> В.</a:t>
            </a: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Юшкевич</a:t>
            </a:r>
            <a:r>
              <a:rPr lang="en-US" sz="1200" dirty="0">
                <a:latin typeface="Times New Roman"/>
                <a:cs typeface="Times New Roman"/>
              </a:rPr>
              <a:t> Д.</a:t>
            </a:r>
          </a:p>
          <a:p>
            <a:pPr algn="l"/>
            <a:r>
              <a:rPr lang="en-US" sz="1200" dirty="0">
                <a:latin typeface="Times New Roman"/>
                <a:cs typeface="Times New Roman"/>
              </a:rPr>
              <a:t>24290907/2091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5" y="2280295"/>
            <a:ext cx="12190848" cy="22867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7326" y="2971387"/>
            <a:ext cx="9888496" cy="90013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Генеральный</a:t>
            </a:r>
            <a:r>
              <a:rPr lang="en-US" sz="4400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план</a:t>
            </a:r>
            <a:r>
              <a:rPr lang="en-US" sz="4400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внедрения</a:t>
            </a:r>
            <a:r>
              <a:rPr lang="en-US" sz="44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400" err="1">
                <a:solidFill>
                  <a:schemeClr val="bg1"/>
                </a:solidFill>
                <a:latin typeface="Times New Roman"/>
                <a:ea typeface="+mj-lt"/>
                <a:cs typeface="+mj-lt"/>
              </a:rPr>
              <a:t>EventMatch</a:t>
            </a:r>
            <a:endParaRPr lang="en-US" sz="4400" kern="1200" err="1">
              <a:solidFill>
                <a:schemeClr val="bg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8D3DF1-DE21-D83C-B872-C04CA437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Введение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D608CC-666D-9156-C9C8-B19E9D289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/>
                <a:ea typeface="+mn-lt"/>
                <a:cs typeface="+mn-lt"/>
              </a:rPr>
              <a:t>Платформа </a:t>
            </a:r>
            <a:r>
              <a:rPr lang="ru-RU" sz="2400" b="1" dirty="0" err="1">
                <a:latin typeface="Times New Roman"/>
                <a:ea typeface="+mn-lt"/>
                <a:cs typeface="+mn-lt"/>
              </a:rPr>
              <a:t>EventMatch</a:t>
            </a:r>
            <a:r>
              <a:rPr lang="ru-RU" sz="2400" dirty="0">
                <a:latin typeface="Times New Roman"/>
                <a:ea typeface="+mn-lt"/>
                <a:cs typeface="+mn-lt"/>
              </a:rPr>
              <a:t> — платформа для создания для мероприятий помогает организаторам находить целевую аудиторию, а участникам — подбирать релевантные события и подавать заявки.</a:t>
            </a:r>
            <a:endParaRPr lang="ru-RU">
              <a:latin typeface="Times New Roman"/>
              <a:ea typeface="+mn-lt"/>
              <a:cs typeface="+mn-lt"/>
            </a:endParaRPr>
          </a:p>
          <a:p>
            <a:pPr>
              <a:buNone/>
            </a:pP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400" b="1" dirty="0">
                <a:latin typeface="Times New Roman"/>
                <a:ea typeface="+mn-lt"/>
                <a:cs typeface="+mn-lt"/>
              </a:rPr>
              <a:t>Цель внедрения ИИ-генератора сценариев </a:t>
            </a:r>
            <a:r>
              <a:rPr lang="ru-RU" sz="2400" dirty="0">
                <a:latin typeface="Times New Roman"/>
                <a:ea typeface="+mn-lt"/>
                <a:cs typeface="+mn-lt"/>
              </a:rPr>
              <a:t>— автоматизация и персонализация подготовки мероприятий, экономия до 70% времени организаторов.</a:t>
            </a:r>
            <a:endParaRPr lang="ru-RU" dirty="0">
              <a:latin typeface="Times New Roman"/>
              <a:ea typeface="+mn-lt"/>
              <a:cs typeface="+mn-lt"/>
            </a:endParaRPr>
          </a:p>
          <a:p>
            <a:pPr marL="0" indent="0">
              <a:buNone/>
            </a:pPr>
            <a:endParaRPr lang="ru-RU" sz="2400">
              <a:ea typeface="+mn-lt"/>
              <a:cs typeface="+mn-lt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946AE2-B9A2-F142-ADA5-C277F4E0B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95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54248-397A-2F52-A1A7-550FA04B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Цель проекта</a:t>
            </a:r>
          </a:p>
          <a:p>
            <a:endParaRPr lang="ru-RU" sz="4000">
              <a:solidFill>
                <a:schemeClr val="bg1"/>
              </a:solidFill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B494DD-1E16-8569-0946-1CC86A173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latin typeface="Times New Roman"/>
                <a:ea typeface="+mn-lt"/>
                <a:cs typeface="+mn-lt"/>
              </a:rPr>
              <a:t>Повысить эффективность и сократить временные затраты на разработку сценариев мероприятий.</a:t>
            </a:r>
            <a:endParaRPr lang="ru-RU" sz="2400" dirty="0">
              <a:latin typeface="Times New Roman"/>
              <a:cs typeface="Times New Roman"/>
            </a:endParaRP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Автоматизировать процесс создания сценариев с помощью ИИ.</a:t>
            </a:r>
            <a:endParaRPr lang="ru-RU" sz="2400" dirty="0">
              <a:latin typeface="Times New Roman"/>
              <a:cs typeface="Times New Roman"/>
            </a:endParaRP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Улучшить качество и адаптивность сценариев под целевую аудиторию.</a:t>
            </a:r>
            <a:endParaRPr lang="ru-RU" sz="2400" dirty="0">
              <a:latin typeface="Times New Roman"/>
            </a:endParaRPr>
          </a:p>
          <a:p>
            <a:pPr marL="342900" indent="-342900"/>
            <a:endParaRPr lang="ru-RU" sz="2400" dirty="0">
              <a:latin typeface="Times New Roman"/>
              <a:cs typeface="Times New Roman"/>
            </a:endParaRPr>
          </a:p>
          <a:p>
            <a:pPr>
              <a:buNone/>
            </a:pPr>
            <a:endParaRPr lang="ru-RU" sz="2400"/>
          </a:p>
          <a:p>
            <a:pPr marL="0" indent="0">
              <a:buNone/>
            </a:pPr>
            <a:endParaRPr lang="ru-RU" sz="24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1F200C-9353-8171-C827-7212301B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451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0B029-D235-CD13-F2B0-23A8A23CE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Задачи внедрения ИИ-генератора</a:t>
            </a:r>
          </a:p>
          <a:p>
            <a:endParaRPr lang="ru-RU" sz="400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C4E31-0B55-5682-9AC7-0310A39A0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Разработка алгоритма генерации сценариев по параметрам мероприятий.</a:t>
            </a:r>
            <a:endParaRPr lang="ru-RU" sz="2400" dirty="0">
              <a:latin typeface="Times New Roman"/>
              <a:cs typeface="Times New Roman"/>
            </a:endParaRPr>
          </a:p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Интеграция ИИ-генератора с платформой </a:t>
            </a:r>
            <a:r>
              <a:rPr lang="ru-RU" sz="2400" dirty="0" err="1">
                <a:latin typeface="Times New Roman"/>
                <a:ea typeface="+mn-lt"/>
                <a:cs typeface="+mn-lt"/>
              </a:rPr>
              <a:t>EventMatch</a:t>
            </a:r>
            <a:r>
              <a:rPr lang="ru-RU" sz="2400" dirty="0">
                <a:latin typeface="Times New Roman"/>
                <a:ea typeface="+mn-lt"/>
                <a:cs typeface="+mn-lt"/>
              </a:rPr>
              <a:t>.</a:t>
            </a:r>
          </a:p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Персонализация сценариев под интересы и возраст аудитории.</a:t>
            </a:r>
          </a:p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Сокращение времени создания сценариев до 10-15 минут.</a:t>
            </a:r>
          </a:p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Создание удобного интерфейса для организаторов.</a:t>
            </a:r>
            <a:endParaRPr lang="ru-RU" sz="2400" dirty="0">
              <a:latin typeface="Times New Roman"/>
              <a:cs typeface="Times New Roman"/>
            </a:endParaRPr>
          </a:p>
          <a:p>
            <a:pPr>
              <a:buAutoNum type="arabicPeriod"/>
            </a:pPr>
            <a:r>
              <a:rPr lang="ru-RU" sz="2400" dirty="0">
                <a:latin typeface="Times New Roman"/>
                <a:ea typeface="+mn-lt"/>
                <a:cs typeface="+mn-lt"/>
              </a:rPr>
              <a:t>Обучение пользователей (инструкции, видеоуроки, вебинары)</a:t>
            </a:r>
            <a:endParaRPr lang="ru-RU" sz="2400" dirty="0">
              <a:latin typeface="Times New Roman"/>
            </a:endParaRPr>
          </a:p>
          <a:p>
            <a:pPr marL="457200" indent="-457200">
              <a:buAutoNum type="arabicPeriod"/>
            </a:pPr>
            <a:endParaRPr lang="ru-RU" sz="2400" dirty="0">
              <a:latin typeface="Times New Roman"/>
              <a:ea typeface="+mn-lt"/>
              <a:cs typeface="+mn-lt"/>
            </a:endParaRPr>
          </a:p>
          <a:p>
            <a:pPr>
              <a:buNone/>
            </a:pPr>
            <a:endParaRPr lang="ru-RU" sz="24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90445-A618-7CBA-2904-C223DF82D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398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13334-DD40-2BF2-E498-155CA52D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E0E972F6-3F83-F929-6B71-076647745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D1CA9-785F-A29A-B076-1BB525D8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/>
                <a:cs typeface="Times New Roman"/>
              </a:rPr>
              <a:t> Роли и взаимодействия в проекте</a:t>
            </a:r>
          </a:p>
          <a:p>
            <a:endParaRPr lang="ru-RU" sz="40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ru-RU" sz="400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B308BB56-6A14-173A-C3F7-3066934CD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6633C278-F3A3-BB7F-A338-7C2AD3C0F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59FD6-2290-F44D-9944-61887D5E6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latin typeface="Times New Roman"/>
                <a:ea typeface="+mn-lt"/>
                <a:cs typeface="+mn-lt"/>
              </a:rPr>
              <a:t>Архитектор-разработчик ИИ — создание и адаптация модели.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Инженер по интеграции и UX/UI — интеграция с платформой, оптимизация и интерфейс.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Специалист по обучению и поддержке — обучение пользователей и сбор обратной связи.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Взаимодействие между ролями обеспечивает качество и адаптацию продукта.</a:t>
            </a:r>
          </a:p>
          <a:p>
            <a:pPr>
              <a:buAutoNum type="arabicPeriod"/>
            </a:pPr>
            <a:endParaRPr lang="ru-RU" sz="2400" dirty="0">
              <a:latin typeface="Times New Roman"/>
            </a:endParaRPr>
          </a:p>
          <a:p>
            <a:pPr marL="457200" indent="-457200">
              <a:buAutoNum type="arabicPeriod"/>
            </a:pPr>
            <a:endParaRPr lang="ru-RU" sz="2400" dirty="0">
              <a:latin typeface="Times New Roman"/>
              <a:ea typeface="+mn-lt"/>
              <a:cs typeface="+mn-lt"/>
            </a:endParaRPr>
          </a:p>
          <a:p>
            <a:pPr>
              <a:buNone/>
            </a:pPr>
            <a:endParaRPr lang="ru-RU" sz="24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7E17CD-4E85-F70C-F547-92DD88C4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dirty="0" smtClean="0">
                <a:latin typeface="Aptos"/>
                <a:cs typeface="Times New Roman"/>
              </a:rPr>
              <a:t>5</a:t>
            </a:fld>
            <a:endParaRPr lang="ru-RU"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2193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B7C8B-510C-E904-3C85-63FC9CFC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Метод и структура проекта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014AD3-F183-10D8-C0C4-15C24D17E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latin typeface="Times New Roman"/>
                <a:ea typeface="+mn-lt"/>
                <a:cs typeface="+mn-lt"/>
              </a:rPr>
              <a:t>Поэтапный метод реализации проекта </a:t>
            </a:r>
            <a:r>
              <a:rPr lang="ru-RU" sz="2400" err="1">
                <a:latin typeface="Times New Roman"/>
                <a:ea typeface="+mn-lt"/>
                <a:cs typeface="+mn-lt"/>
              </a:rPr>
              <a:t>EventMatch</a:t>
            </a:r>
            <a:r>
              <a:rPr lang="ru-RU" sz="2400" dirty="0">
                <a:latin typeface="Times New Roman"/>
                <a:ea typeface="+mn-lt"/>
                <a:cs typeface="+mn-lt"/>
              </a:rPr>
              <a:t>.</a:t>
            </a:r>
            <a:endParaRPr lang="ru-RU" sz="2400" dirty="0">
              <a:latin typeface="Times New Roman"/>
              <a:ea typeface="+mn-lt"/>
              <a:cs typeface="Times New Roman"/>
            </a:endParaRPr>
          </a:p>
          <a:p>
            <a:r>
              <a:rPr lang="ru-RU" sz="2400" err="1">
                <a:latin typeface="Times New Roman"/>
                <a:ea typeface="+mn-lt"/>
                <a:cs typeface="+mn-lt"/>
              </a:rPr>
              <a:t>Бэкэнд</a:t>
            </a:r>
            <a:r>
              <a:rPr lang="ru-RU" sz="2400" dirty="0">
                <a:latin typeface="Times New Roman"/>
                <a:ea typeface="+mn-lt"/>
                <a:cs typeface="+mn-lt"/>
              </a:rPr>
              <a:t>: API для работы с данными и запросами.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 err="1">
                <a:latin typeface="Times New Roman"/>
                <a:ea typeface="+mn-lt"/>
                <a:cs typeface="+mn-lt"/>
              </a:rPr>
              <a:t>Фронтэнд</a:t>
            </a:r>
            <a:r>
              <a:rPr lang="ru-RU" sz="2400" dirty="0">
                <a:latin typeface="Times New Roman"/>
                <a:ea typeface="+mn-lt"/>
                <a:cs typeface="+mn-lt"/>
              </a:rPr>
              <a:t>: пользовательский интерфейс.</a:t>
            </a:r>
            <a:endParaRPr lang="ru-RU" sz="2400">
              <a:latin typeface="Times New Roman"/>
              <a:cs typeface="Times New Roman"/>
            </a:endParaRP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База данных для хранения информации.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Безопасность: двухфакторная аутентификация, защита данных.</a:t>
            </a:r>
          </a:p>
          <a:p>
            <a:pPr marL="342900" indent="-342900"/>
            <a:endParaRPr lang="ru-RU" sz="2400" dirty="0">
              <a:latin typeface="Times New Roman"/>
              <a:ea typeface="+mn-lt"/>
              <a:cs typeface="+mn-lt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654D39-A9E6-3DB3-BBDB-37D29C57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887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7C063-3BFE-173C-D19D-C4D6AD69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24EC1C6-9414-DCC4-CA6A-B443589B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91035"/>
            <a:ext cx="12191990" cy="59435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C846D4-C737-E4B6-A55E-F166E9722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11949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E4FA5-7885-96F8-C6C8-0DE73E44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260" y="251396"/>
            <a:ext cx="7033680" cy="739145"/>
          </a:xfrm>
        </p:spPr>
        <p:txBody>
          <a:bodyPr anchor="t"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imes New Roman"/>
                <a:cs typeface="Times New Roman"/>
              </a:rPr>
              <a:t>Риски</a:t>
            </a: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/>
                <a:cs typeface="Times New Roman"/>
              </a:rPr>
              <a:t>проекта</a:t>
            </a: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 и </a:t>
            </a:r>
            <a:r>
              <a:rPr lang="en-US" sz="4000" dirty="0" err="1">
                <a:solidFill>
                  <a:schemeClr val="bg1"/>
                </a:solidFill>
                <a:latin typeface="Times New Roman"/>
                <a:cs typeface="Times New Roman"/>
              </a:rPr>
              <a:t>их</a:t>
            </a:r>
            <a:r>
              <a:rPr lang="en-US" sz="40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/>
                <a:cs typeface="Times New Roman"/>
              </a:rPr>
              <a:t>управление</a:t>
            </a:r>
            <a:endParaRPr lang="ru-RU" sz="4000" dirty="0" err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A5EB73E-A711-5DE5-A212-2A7AD8D41B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674162"/>
              </p:ext>
            </p:extLst>
          </p:nvPr>
        </p:nvGraphicFramePr>
        <p:xfrm>
          <a:off x="298621" y="1513701"/>
          <a:ext cx="11595440" cy="486124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13918">
                  <a:extLst>
                    <a:ext uri="{9D8B030D-6E8A-4147-A177-3AD203B41FA5}">
                      <a16:colId xmlns:a16="http://schemas.microsoft.com/office/drawing/2014/main" val="1321191795"/>
                    </a:ext>
                  </a:extLst>
                </a:gridCol>
                <a:gridCol w="1606378">
                  <a:extLst>
                    <a:ext uri="{9D8B030D-6E8A-4147-A177-3AD203B41FA5}">
                      <a16:colId xmlns:a16="http://schemas.microsoft.com/office/drawing/2014/main" val="2310949375"/>
                    </a:ext>
                  </a:extLst>
                </a:gridCol>
                <a:gridCol w="7775144">
                  <a:extLst>
                    <a:ext uri="{9D8B030D-6E8A-4147-A177-3AD203B41FA5}">
                      <a16:colId xmlns:a16="http://schemas.microsoft.com/office/drawing/2014/main" val="2787911756"/>
                    </a:ext>
                  </a:extLst>
                </a:gridCol>
              </a:tblGrid>
              <a:tr h="323984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Times New Roman"/>
                        </a:rPr>
                        <a:t>Риск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500"/>
                        </a:spcBef>
                        <a:buNone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Times New Roman"/>
                        </a:rPr>
                        <a:t>Допустимость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500"/>
                        </a:spcBef>
                        <a:buNone/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Times New Roman"/>
                        </a:rPr>
                        <a:t>Управление риском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058772"/>
                  </a:ext>
                </a:extLst>
              </a:tr>
              <a:tr h="1089762">
                <a:tc>
                  <a:txBody>
                    <a:bodyPr/>
                    <a:lstStyle/>
                    <a:p>
                      <a:pPr marL="0" indent="0" algn="just" rtl="0" fontAlgn="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1. Пользователи плохо воспринимают первые версии сценариев, предложенных ИИ.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Приемлемый 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1. Создание прототипов: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Разработать продукт с базовыми сценариями и провести тестирование с пользователями для получения ранней обратной связи.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2. Обучение пользователей: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Организовать обучающие сессии и вебинары для пользователей, чтобы объяснить, как работает ИИ и каким образом он генерирует сценарии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22168"/>
                  </a:ext>
                </a:extLst>
              </a:tr>
              <a:tr h="1531568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2. Проблемы с обучением моделей ИИ, т.е. процесс обучения может затянуться, вызывая задержки в проекте и увеличение расходов.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400" dirty="0">
                          <a:solidFill>
                            <a:srgbClr val="262626"/>
                          </a:solidFill>
                          <a:effectLst/>
                          <a:latin typeface="Times New Roman"/>
                        </a:rPr>
                        <a:t>Нежелательный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1. Выбор подходящих данных: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Провести анализ доступных данных и выбрать качественные, релевантные наборы данных для обучения моделей ИИ.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2. Тестирование на малом объеме данных: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Начать обучение моделей на небольших объемах данных, чтобы быстро проверить гипотезы и выявить возможные проблемы.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3. Создание резервных планов: Разработать альтернативные методы или алгоритмы, которые могут быть использованы в случае возникновения сложностей с основным методом.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017284"/>
                  </a:ext>
                </a:extLst>
              </a:tr>
              <a:tr h="190463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ru-RU" sz="1400" dirty="0">
                          <a:effectLst/>
                          <a:latin typeface="Times New Roman"/>
                        </a:rPr>
                        <a:t>3. Сбой ИИ-алгоритма приводит к созданию некорректных или неподходящих сценариев.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ru-RU" sz="1400" dirty="0">
                          <a:solidFill>
                            <a:srgbClr val="262626"/>
                          </a:solidFill>
                          <a:effectLst/>
                          <a:latin typeface="Times New Roman"/>
                        </a:rPr>
                        <a:t>Недопустимый 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1. Проведение комплексного тестирования: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Реализовать многоуровневое тестирование алгоритмов на различных этапах разработки, включая юнит-тестирование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2. Установление контрольных точек: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Внедрить контрольные точки для мониторинга качества сценариев на различных этапах генерации, чтобы быстро выявлять и исправлять ошибки.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3. Обучение и экспертиза команды: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Обеспечить обучение команды разработчиков и аналитиков по вопросам работы с ИИ-алгоритмами и их оптимизации.</a:t>
                      </a:r>
                    </a:p>
                    <a:p>
                      <a:pPr algn="just" rtl="0" fontAlgn="t">
                        <a:buNone/>
                      </a:pPr>
                      <a:r>
                        <a:rPr lang="ru-RU" sz="1400" b="1" dirty="0">
                          <a:effectLst/>
                          <a:latin typeface="Times New Roman"/>
                        </a:rPr>
                        <a:t>4. Создание системы проверки (валидации):</a:t>
                      </a:r>
                      <a:r>
                        <a:rPr lang="ru-RU" sz="1400" dirty="0">
                          <a:effectLst/>
                          <a:latin typeface="Times New Roman"/>
                        </a:rPr>
                        <a:t> Разработать систему автоматической проверки созданных сценариев с использованием заранее определенных критериев.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963647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C4191B-6BB0-F75A-64C3-EE1095B2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612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EB5C88-FED1-F856-2A4B-E3389776A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Обучение пользователей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F04060-1910-99DE-C752-E0376CAF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latin typeface="Times New Roman"/>
                <a:ea typeface="+mn-lt"/>
                <a:cs typeface="+mn-lt"/>
              </a:rPr>
              <a:t>Обучающие ролики для модераторов и участников.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Подсказки и инструкции для организаторов.</a:t>
            </a:r>
          </a:p>
          <a:p>
            <a:r>
              <a:rPr lang="ru-RU" sz="2400" dirty="0">
                <a:latin typeface="Times New Roman"/>
                <a:ea typeface="+mn-lt"/>
                <a:cs typeface="+mn-lt"/>
              </a:rPr>
              <a:t>Вебинары по работе с ИИ-генератором.</a:t>
            </a:r>
            <a:endParaRPr lang="ru-RU" sz="2400" dirty="0">
              <a:latin typeface="Times New Roman"/>
            </a:endParaRPr>
          </a:p>
          <a:p>
            <a:pPr marL="342900" indent="-342900"/>
            <a:endParaRPr lang="ru-RU" sz="2400" dirty="0">
              <a:latin typeface="Times New Roman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DCD678-D1AE-488A-C747-01154026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11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C1F63-AE21-C347-EACA-07D5885B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Диаграмма </a:t>
            </a:r>
            <a:r>
              <a:rPr lang="ru-RU" sz="4000" err="1">
                <a:solidFill>
                  <a:schemeClr val="bg1"/>
                </a:solidFill>
                <a:latin typeface="Times New Roman"/>
                <a:cs typeface="Times New Roman"/>
              </a:rPr>
              <a:t>Ганта</a:t>
            </a:r>
            <a:endParaRPr lang="ru-RU" sz="4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5783D78-D745-EC41-EAF5-8812BC6A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9</a:t>
            </a:fld>
            <a:endParaRPr lang="ru-RU"/>
          </a:p>
        </p:txBody>
      </p:sp>
      <p:pic>
        <p:nvPicPr>
          <p:cNvPr id="7" name="Объект 6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6DA671-457D-D175-C2A7-84952E680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04" y="2979783"/>
            <a:ext cx="11513747" cy="260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8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E6876-3840-C242-C834-E8B056A9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/>
                <a:cs typeface="Times New Roman"/>
              </a:rPr>
              <a:t>Выводы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52D9CE-763E-7BC3-A344-A83A21DB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/>
                <a:cs typeface="Times New Roman"/>
              </a:rPr>
              <a:t>Проект "</a:t>
            </a:r>
            <a:r>
              <a:rPr lang="ru-RU" sz="2400" err="1">
                <a:latin typeface="Times New Roman"/>
                <a:cs typeface="Times New Roman"/>
              </a:rPr>
              <a:t>EventMatch</a:t>
            </a:r>
            <a:r>
              <a:rPr lang="ru-RU" sz="2400" dirty="0">
                <a:latin typeface="Times New Roman"/>
                <a:cs typeface="Times New Roman"/>
              </a:rPr>
              <a:t>" имеет потенциал значительно повысить эффективность организации мероприятий благодаря внедрению ИИ-генератора сценариев, который позволит сократить время подготовки и персонализировать опыт участников. </a:t>
            </a:r>
            <a:endParaRPr lang="ru-RU" sz="2400" dirty="0">
              <a:latin typeface="Aptos" panose="020B0004020202020204"/>
              <a:cs typeface="Times New Roman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/>
                <a:cs typeface="Times New Roman"/>
              </a:rPr>
              <a:t>Постоянный сбор обратной связи поможет улучшить качество сценариев, а гибкий подход в разработке обеспечит адаптацию к изменяющимся требованиям рынка. </a:t>
            </a:r>
            <a:endParaRPr lang="ru-RU" sz="2400">
              <a:latin typeface="Aptos" panose="020B0004020202020204"/>
              <a:cs typeface="Times New Roman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/>
                <a:cs typeface="Times New Roman"/>
              </a:rPr>
              <a:t>Успешная реализация проекта может стать конкурентным преимуществом, привлечь новых клиентов и способствовать развитию индустрии мероприятий, сделав их более доступными и эффективными.</a:t>
            </a:r>
            <a:endParaRPr lang="ru-RU" sz="240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755F83-0C7F-4DBD-6F53-275DDC6D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4808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710F1-06AB-9B9C-B39C-298E2A32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9607B8D-5A6C-4ECB-9047-3836C51C1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84D6C4-24A3-44DC-9607-566CF5A22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70"/>
            <a:ext cx="6096000" cy="685643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F7300B-53A6-4A16-AA84-78597664F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5229" y="685800"/>
            <a:ext cx="4743071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55174-2230-AE7D-0CB3-402D4023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293" y="1259958"/>
            <a:ext cx="3232298" cy="24817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Спасибо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20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за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320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внимание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/>
                <a:cs typeface="Times New Roman"/>
              </a:rPr>
              <a:t>!</a:t>
            </a:r>
          </a:p>
        </p:txBody>
      </p:sp>
      <p:pic>
        <p:nvPicPr>
          <p:cNvPr id="5" name="Объект 4" descr="Изображение выглядит как млекопитающее, в помещении, Мелкие и средние кошки, Вибрис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3953FA3-D013-1AB1-9979-5C49AFE713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7" r="1" b="7386"/>
          <a:stretch>
            <a:fillRect/>
          </a:stretch>
        </p:blipFill>
        <p:spPr>
          <a:xfrm>
            <a:off x="6096000" y="1571"/>
            <a:ext cx="6096000" cy="6856429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90B63E-BAD3-B541-8514-39B044F4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57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285DC19C-03DA-4066-9FF7-D0BF1BC6D6F6}" type="slidenum">
              <a:rPr lang="en-US" sz="9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 sz="9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5427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A712F-2338-C42C-851A-186A30141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883300D2-FAA9-D74A-4382-A864129A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16"/>
            <a:ext cx="12191990" cy="68571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300525-19D4-633E-E326-E0E12D0B0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298" y="4979593"/>
            <a:ext cx="7013868" cy="14640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200" dirty="0" err="1">
                <a:latin typeface="Times New Roman"/>
                <a:cs typeface="Times New Roman"/>
              </a:rPr>
              <a:t>Жежу</a:t>
            </a:r>
            <a:r>
              <a:rPr lang="en-US" sz="1200" dirty="0">
                <a:latin typeface="Times New Roman"/>
                <a:cs typeface="Times New Roman"/>
              </a:rPr>
              <a:t> А.</a:t>
            </a:r>
            <a:endParaRPr lang="ru-RU" sz="1200" dirty="0">
              <a:latin typeface="Times New Roman"/>
              <a:cs typeface="Times New Roman"/>
            </a:endParaRP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Пулукчу</a:t>
            </a:r>
            <a:r>
              <a:rPr lang="en-US" sz="1200" dirty="0">
                <a:latin typeface="Times New Roman"/>
                <a:cs typeface="Times New Roman"/>
              </a:rPr>
              <a:t> П.</a:t>
            </a: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Шатурина</a:t>
            </a:r>
            <a:r>
              <a:rPr lang="en-US" sz="1200" dirty="0">
                <a:latin typeface="Times New Roman"/>
                <a:cs typeface="Times New Roman"/>
              </a:rPr>
              <a:t> В.</a:t>
            </a:r>
          </a:p>
          <a:p>
            <a:pPr algn="l"/>
            <a:r>
              <a:rPr lang="en-US" sz="1200" dirty="0" err="1">
                <a:latin typeface="Times New Roman"/>
                <a:cs typeface="Times New Roman"/>
              </a:rPr>
              <a:t>Юшкевич</a:t>
            </a:r>
            <a:r>
              <a:rPr lang="en-US" sz="1200" dirty="0">
                <a:latin typeface="Times New Roman"/>
                <a:cs typeface="Times New Roman"/>
              </a:rPr>
              <a:t> Д.</a:t>
            </a:r>
          </a:p>
          <a:p>
            <a:pPr algn="l"/>
            <a:r>
              <a:rPr lang="en-US" sz="1200" dirty="0">
                <a:latin typeface="Times New Roman"/>
                <a:cs typeface="Times New Roman"/>
              </a:rPr>
              <a:t>24290907/2091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C86C78CD-8728-0FD4-1EF1-C70F18DB7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5" y="2280295"/>
            <a:ext cx="12190848" cy="22867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39D6C-2F09-07C3-9504-208B32EF0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7326" y="2971387"/>
            <a:ext cx="9888496" cy="90013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Генеральный</a:t>
            </a:r>
            <a:r>
              <a:rPr lang="en-US" sz="4400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план</a:t>
            </a:r>
            <a:r>
              <a:rPr lang="en-US" sz="4400" kern="120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4400" kern="1200" err="1">
                <a:solidFill>
                  <a:schemeClr val="bg1"/>
                </a:solidFill>
                <a:latin typeface="Times New Roman"/>
                <a:cs typeface="Times New Roman"/>
              </a:rPr>
              <a:t>внедрения</a:t>
            </a:r>
            <a:r>
              <a:rPr lang="en-US" sz="4400" dirty="0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  <a:r>
              <a:rPr lang="en-US" sz="4400" err="1">
                <a:solidFill>
                  <a:schemeClr val="bg1"/>
                </a:solidFill>
                <a:latin typeface="Times New Roman"/>
                <a:ea typeface="+mj-lt"/>
                <a:cs typeface="+mj-lt"/>
              </a:rPr>
              <a:t>EventMatch</a:t>
            </a:r>
            <a:endParaRPr lang="en-US" sz="4400" kern="1200" err="1">
              <a:solidFill>
                <a:schemeClr val="bg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6451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Генеральный план внедрения EventMatch</vt:lpstr>
      <vt:lpstr>Введение</vt:lpstr>
      <vt:lpstr>Цель проекта </vt:lpstr>
      <vt:lpstr>Задачи внедрения ИИ-генератора </vt:lpstr>
      <vt:lpstr> Роли и взаимодействия в проекте  </vt:lpstr>
      <vt:lpstr>Метод и структура проекта</vt:lpstr>
      <vt:lpstr>Риски проекта и их управление</vt:lpstr>
      <vt:lpstr>Обучение пользователей</vt:lpstr>
      <vt:lpstr>Диаграмма Ганта</vt:lpstr>
      <vt:lpstr>Выводы</vt:lpstr>
      <vt:lpstr>Спасибо за внимание!</vt:lpstr>
      <vt:lpstr>Генеральный план внедрения EventMatch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326</cp:revision>
  <dcterms:created xsi:type="dcterms:W3CDTF">2025-10-19T16:44:50Z</dcterms:created>
  <dcterms:modified xsi:type="dcterms:W3CDTF">2025-10-20T20:35:51Z</dcterms:modified>
</cp:coreProperties>
</file>